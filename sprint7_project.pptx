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22"/>
  </p:notesMasterIdLst>
  <p:sldIdLst>
    <p:sldId id="256" r:id="rId2"/>
    <p:sldId id="259" r:id="rId3"/>
    <p:sldId id="260" r:id="rId4"/>
    <p:sldId id="264" r:id="rId5"/>
    <p:sldId id="257" r:id="rId6"/>
    <p:sldId id="261" r:id="rId7"/>
    <p:sldId id="258" r:id="rId8"/>
    <p:sldId id="267" r:id="rId9"/>
    <p:sldId id="263" r:id="rId10"/>
    <p:sldId id="291" r:id="rId11"/>
    <p:sldId id="262" r:id="rId12"/>
    <p:sldId id="265" r:id="rId13"/>
    <p:sldId id="290" r:id="rId14"/>
    <p:sldId id="293" r:id="rId15"/>
    <p:sldId id="266" r:id="rId16"/>
    <p:sldId id="294" r:id="rId17"/>
    <p:sldId id="295" r:id="rId18"/>
    <p:sldId id="296" r:id="rId19"/>
    <p:sldId id="297" r:id="rId20"/>
    <p:sldId id="269" r:id="rId21"/>
  </p:sldIdLst>
  <p:sldSz cx="9144000" cy="5143500" type="screen16x9"/>
  <p:notesSz cx="6858000" cy="9144000"/>
  <p:embeddedFontLst>
    <p:embeddedFont>
      <p:font typeface="Anaheim" panose="020B0604020202020204" charset="0"/>
      <p:regular r:id="rId23"/>
      <p:bold r:id="rId24"/>
    </p:embeddedFont>
    <p:embeddedFont>
      <p:font typeface="Carattere" panose="020B0604020202020204" charset="0"/>
      <p:regular r:id="rId25"/>
    </p:embeddedFont>
    <p:embeddedFont>
      <p:font typeface="Manrope" panose="020B0604020202020204" charset="0"/>
      <p:regular r:id="rId26"/>
      <p:bold r:id="rId27"/>
    </p:embeddedFont>
    <p:embeddedFont>
      <p:font typeface="Nunito Light" pitchFamily="2" charset="0"/>
      <p:regular r:id="rId28"/>
      <p:italic r:id="rId29"/>
    </p:embeddedFont>
    <p:embeddedFont>
      <p:font typeface="Open Sans" panose="020B0606030504020204" pitchFamily="34" charset="0"/>
      <p:regular r:id="rId30"/>
      <p:bold r:id="rId31"/>
      <p:italic r:id="rId32"/>
      <p:boldItalic r:id="rId33"/>
    </p:embeddedFont>
    <p:embeddedFont>
      <p:font typeface="PT Sans" panose="020B0503020203020204" pitchFamily="34" charset="0"/>
      <p:regular r:id="rId34"/>
      <p:bold r:id="rId35"/>
      <p:italic r:id="rId36"/>
      <p:boldItalic r:id="rId37"/>
    </p:embeddedFont>
    <p:embeddedFont>
      <p:font typeface="Raleway" pitchFamily="2" charset="0"/>
      <p:regular r:id="rId38"/>
      <p:bold r:id="rId39"/>
      <p:italic r:id="rId40"/>
      <p:bold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C6937B6-6A88-4EC7-9717-D5DF0EBBDC24}">
  <a:tblStyle styleId="{FC6937B6-6A88-4EC7-9717-D5DF0EBBDC2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openxmlformats.org/officeDocument/2006/relationships/font" Target="fonts/font17.fntdata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font" Target="fonts/font15.fntdata"/><Relationship Id="rId40" Type="http://schemas.openxmlformats.org/officeDocument/2006/relationships/font" Target="fonts/font18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font" Target="fonts/font16.fntdata"/><Relationship Id="rId20" Type="http://schemas.openxmlformats.org/officeDocument/2006/relationships/slide" Target="slides/slide19.xml"/><Relationship Id="rId41" Type="http://schemas.openxmlformats.org/officeDocument/2006/relationships/font" Target="fonts/font1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4bf5cb3459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4bf5cb3459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184d99d1a7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184d99d1a72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54dda1946d_4_27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54dda1946d_4_27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517220450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2517220450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4bf5cb3459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4bf5cb3459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>
          <a:extLst>
            <a:ext uri="{FF2B5EF4-FFF2-40B4-BE49-F238E27FC236}">
              <a16:creationId xmlns:a16="http://schemas.microsoft.com/office/drawing/2014/main" id="{502BD88A-3CC2-CBD1-6370-84897F8A0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4bf5cb3459_0_13:notes">
            <a:extLst>
              <a:ext uri="{FF2B5EF4-FFF2-40B4-BE49-F238E27FC236}">
                <a16:creationId xmlns:a16="http://schemas.microsoft.com/office/drawing/2014/main" id="{70D99925-0AE1-322D-CDE2-D97948C3C9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4bf5cb3459_0_13:notes">
            <a:extLst>
              <a:ext uri="{FF2B5EF4-FFF2-40B4-BE49-F238E27FC236}">
                <a16:creationId xmlns:a16="http://schemas.microsoft.com/office/drawing/2014/main" id="{A3040EFE-74BE-C0D6-D572-004C8B83F9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27586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54dda1946d_4_27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54dda1946d_4_27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>
          <a:extLst>
            <a:ext uri="{FF2B5EF4-FFF2-40B4-BE49-F238E27FC236}">
              <a16:creationId xmlns:a16="http://schemas.microsoft.com/office/drawing/2014/main" id="{46D440BB-9F05-06FA-4482-2183ED620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d431007ba2_0_215:notes">
            <a:extLst>
              <a:ext uri="{FF2B5EF4-FFF2-40B4-BE49-F238E27FC236}">
                <a16:creationId xmlns:a16="http://schemas.microsoft.com/office/drawing/2014/main" id="{E7E989E4-75EB-AED5-1E67-17C6459AC1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d431007ba2_0_215:notes">
            <a:extLst>
              <a:ext uri="{FF2B5EF4-FFF2-40B4-BE49-F238E27FC236}">
                <a16:creationId xmlns:a16="http://schemas.microsoft.com/office/drawing/2014/main" id="{263B78FC-249E-58C1-54E3-E1F1727215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22300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>
          <a:extLst>
            <a:ext uri="{FF2B5EF4-FFF2-40B4-BE49-F238E27FC236}">
              <a16:creationId xmlns:a16="http://schemas.microsoft.com/office/drawing/2014/main" id="{552C3B82-22CD-178B-B719-DD80C0214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d431007ba2_0_215:notes">
            <a:extLst>
              <a:ext uri="{FF2B5EF4-FFF2-40B4-BE49-F238E27FC236}">
                <a16:creationId xmlns:a16="http://schemas.microsoft.com/office/drawing/2014/main" id="{7967EA02-C431-36E6-6E0A-3821275205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d431007ba2_0_215:notes">
            <a:extLst>
              <a:ext uri="{FF2B5EF4-FFF2-40B4-BE49-F238E27FC236}">
                <a16:creationId xmlns:a16="http://schemas.microsoft.com/office/drawing/2014/main" id="{20677D5D-4A70-EC2E-388E-45463DD493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73463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54dda1946d_4_27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54dda1946d_4_27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D9451D74-CC56-82DB-31E6-4F28BCAE4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54dda1946d_6_332:notes">
            <a:extLst>
              <a:ext uri="{FF2B5EF4-FFF2-40B4-BE49-F238E27FC236}">
                <a16:creationId xmlns:a16="http://schemas.microsoft.com/office/drawing/2014/main" id="{36D730C9-3841-F5B2-B4AE-3D4FA94936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54dda1946d_6_332:notes">
            <a:extLst>
              <a:ext uri="{FF2B5EF4-FFF2-40B4-BE49-F238E27FC236}">
                <a16:creationId xmlns:a16="http://schemas.microsoft.com/office/drawing/2014/main" id="{7332CC6E-7DAE-0216-C9BB-B5F7701904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608952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1245549A-C2CA-107B-0889-116B9B148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54dda1946d_6_332:notes">
            <a:extLst>
              <a:ext uri="{FF2B5EF4-FFF2-40B4-BE49-F238E27FC236}">
                <a16:creationId xmlns:a16="http://schemas.microsoft.com/office/drawing/2014/main" id="{376F196B-4606-DC5A-4EF4-CCB0B686EF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54dda1946d_6_332:notes">
            <a:extLst>
              <a:ext uri="{FF2B5EF4-FFF2-40B4-BE49-F238E27FC236}">
                <a16:creationId xmlns:a16="http://schemas.microsoft.com/office/drawing/2014/main" id="{8E939C57-B822-1725-A52A-C1A5B390C5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47132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1A8034A5-C15B-396E-2AC4-640947E9D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54dda1946d_6_332:notes">
            <a:extLst>
              <a:ext uri="{FF2B5EF4-FFF2-40B4-BE49-F238E27FC236}">
                <a16:creationId xmlns:a16="http://schemas.microsoft.com/office/drawing/2014/main" id="{6D71C917-C70C-33ED-D5B0-20CD0F9C87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54dda1946d_6_332:notes">
            <a:extLst>
              <a:ext uri="{FF2B5EF4-FFF2-40B4-BE49-F238E27FC236}">
                <a16:creationId xmlns:a16="http://schemas.microsoft.com/office/drawing/2014/main" id="{235205AB-ABF7-D82F-4D7D-3046F92853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9039219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>
          <a:extLst>
            <a:ext uri="{FF2B5EF4-FFF2-40B4-BE49-F238E27FC236}">
              <a16:creationId xmlns:a16="http://schemas.microsoft.com/office/drawing/2014/main" id="{7DC04862-8522-D1BD-F971-1D9EB31BE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184d99d1a72_0_2:notes">
            <a:extLst>
              <a:ext uri="{FF2B5EF4-FFF2-40B4-BE49-F238E27FC236}">
                <a16:creationId xmlns:a16="http://schemas.microsoft.com/office/drawing/2014/main" id="{EEDE101D-B451-7195-AFC1-99F737D812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184d99d1a72_0_2:notes">
            <a:extLst>
              <a:ext uri="{FF2B5EF4-FFF2-40B4-BE49-F238E27FC236}">
                <a16:creationId xmlns:a16="http://schemas.microsoft.com/office/drawing/2014/main" id="{B3E151DC-DAA3-E6DE-D6CF-CBF2DE92AF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7870001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35e18421cc_13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35e18421cc_13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327675" y="200750"/>
            <a:ext cx="4593900" cy="317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327675" y="4206575"/>
            <a:ext cx="4593900" cy="51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>
            <a:spLocks noGrp="1"/>
          </p:cNvSpPr>
          <p:nvPr>
            <p:ph type="pic" idx="2"/>
          </p:nvPr>
        </p:nvSpPr>
        <p:spPr>
          <a:xfrm>
            <a:off x="5363525" y="0"/>
            <a:ext cx="37806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>
            <a:spLocks noGrp="1"/>
          </p:cNvSpPr>
          <p:nvPr>
            <p:ph type="pic" idx="2"/>
          </p:nvPr>
        </p:nvSpPr>
        <p:spPr>
          <a:xfrm>
            <a:off x="0" y="0"/>
            <a:ext cx="3493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636000" y="2769250"/>
            <a:ext cx="4794900" cy="18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3" hasCustomPrompt="1"/>
          </p:nvPr>
        </p:nvSpPr>
        <p:spPr>
          <a:xfrm>
            <a:off x="3636000" y="290650"/>
            <a:ext cx="1367400" cy="633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  <a:latin typeface="Carattere"/>
                <a:ea typeface="Carattere"/>
                <a:cs typeface="Carattere"/>
                <a:sym typeface="Caratter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>
            <a:spLocks noGrp="1"/>
          </p:cNvSpPr>
          <p:nvPr>
            <p:ph type="title"/>
          </p:nvPr>
        </p:nvSpPr>
        <p:spPr>
          <a:xfrm>
            <a:off x="327675" y="2626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ubTitle" idx="1"/>
          </p:nvPr>
        </p:nvSpPr>
        <p:spPr>
          <a:xfrm>
            <a:off x="5230276" y="2574147"/>
            <a:ext cx="2682300" cy="17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ubTitle" idx="2"/>
          </p:nvPr>
        </p:nvSpPr>
        <p:spPr>
          <a:xfrm>
            <a:off x="995800" y="2574147"/>
            <a:ext cx="2682300" cy="17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ubTitle" idx="3"/>
          </p:nvPr>
        </p:nvSpPr>
        <p:spPr>
          <a:xfrm>
            <a:off x="995800" y="1659200"/>
            <a:ext cx="2682300" cy="78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ubTitle" idx="4"/>
          </p:nvPr>
        </p:nvSpPr>
        <p:spPr>
          <a:xfrm>
            <a:off x="5230277" y="1659200"/>
            <a:ext cx="2682300" cy="78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27675" y="2531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811975" y="878850"/>
            <a:ext cx="3637200" cy="102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subTitle" idx="1"/>
          </p:nvPr>
        </p:nvSpPr>
        <p:spPr>
          <a:xfrm>
            <a:off x="811975" y="1966350"/>
            <a:ext cx="4294800" cy="247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>
            <a:endParaRPr/>
          </a:p>
        </p:txBody>
      </p:sp>
      <p:sp>
        <p:nvSpPr>
          <p:cNvPr id="30" name="Google Shape;30;p7"/>
          <p:cNvSpPr>
            <a:spLocks noGrp="1"/>
          </p:cNvSpPr>
          <p:nvPr>
            <p:ph type="pic" idx="2"/>
          </p:nvPr>
        </p:nvSpPr>
        <p:spPr>
          <a:xfrm>
            <a:off x="5643775" y="539500"/>
            <a:ext cx="2787000" cy="4064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8" name="Google Shape;38;p10"/>
          <p:cNvSpPr txBox="1">
            <a:spLocks noGrp="1"/>
          </p:cNvSpPr>
          <p:nvPr>
            <p:ph type="title"/>
          </p:nvPr>
        </p:nvSpPr>
        <p:spPr>
          <a:xfrm>
            <a:off x="1948800" y="4014450"/>
            <a:ext cx="5246400" cy="4416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340875"/>
            <a:ext cx="6576000" cy="162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1" name="Google Shape;41;p11"/>
          <p:cNvSpPr txBox="1">
            <a:spLocks noGrp="1"/>
          </p:cNvSpPr>
          <p:nvPr>
            <p:ph type="subTitle" idx="1"/>
          </p:nvPr>
        </p:nvSpPr>
        <p:spPr>
          <a:xfrm>
            <a:off x="1284000" y="3101850"/>
            <a:ext cx="6576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bg>
      <p:bgPr>
        <a:solidFill>
          <a:schemeClr val="dk1"/>
        </a:solidFill>
        <a:effectLst/>
      </p:bgPr>
    </p:bg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3"/>
          <p:cNvSpPr txBox="1">
            <a:spLocks noGrp="1"/>
          </p:cNvSpPr>
          <p:nvPr>
            <p:ph type="title"/>
          </p:nvPr>
        </p:nvSpPr>
        <p:spPr>
          <a:xfrm>
            <a:off x="327675" y="2511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326522"/>
            <a:ext cx="734700" cy="639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400">
                <a:solidFill>
                  <a:schemeClr val="lt1"/>
                </a:solidFill>
                <a:latin typeface="Carattere"/>
                <a:ea typeface="Carattere"/>
                <a:cs typeface="Carattere"/>
                <a:sym typeface="Caratter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6" name="Google Shape;46;p13"/>
          <p:cNvSpPr txBox="1">
            <a:spLocks noGrp="1"/>
          </p:cNvSpPr>
          <p:nvPr>
            <p:ph type="title" idx="3" hasCustomPrompt="1"/>
          </p:nvPr>
        </p:nvSpPr>
        <p:spPr>
          <a:xfrm>
            <a:off x="720000" y="2947428"/>
            <a:ext cx="734700" cy="639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400">
                <a:solidFill>
                  <a:schemeClr val="lt1"/>
                </a:solidFill>
                <a:latin typeface="Carattere"/>
                <a:ea typeface="Carattere"/>
                <a:cs typeface="Carattere"/>
                <a:sym typeface="Caratter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7" name="Google Shape;47;p13"/>
          <p:cNvSpPr txBox="1">
            <a:spLocks noGrp="1"/>
          </p:cNvSpPr>
          <p:nvPr>
            <p:ph type="title" idx="4" hasCustomPrompt="1"/>
          </p:nvPr>
        </p:nvSpPr>
        <p:spPr>
          <a:xfrm>
            <a:off x="4883325" y="1326522"/>
            <a:ext cx="734700" cy="639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400">
                <a:solidFill>
                  <a:schemeClr val="lt1"/>
                </a:solidFill>
                <a:latin typeface="Carattere"/>
                <a:ea typeface="Carattere"/>
                <a:cs typeface="Carattere"/>
                <a:sym typeface="Caratter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8" name="Google Shape;48;p13"/>
          <p:cNvSpPr txBox="1">
            <a:spLocks noGrp="1"/>
          </p:cNvSpPr>
          <p:nvPr>
            <p:ph type="title" idx="5" hasCustomPrompt="1"/>
          </p:nvPr>
        </p:nvSpPr>
        <p:spPr>
          <a:xfrm>
            <a:off x="4883325" y="2947428"/>
            <a:ext cx="734700" cy="639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400">
                <a:solidFill>
                  <a:schemeClr val="lt1"/>
                </a:solidFill>
                <a:latin typeface="Carattere"/>
                <a:ea typeface="Carattere"/>
                <a:cs typeface="Carattere"/>
                <a:sym typeface="Caratter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9" name="Google Shape;49;p13"/>
          <p:cNvSpPr txBox="1">
            <a:spLocks noGrp="1"/>
          </p:cNvSpPr>
          <p:nvPr>
            <p:ph type="subTitle" idx="1"/>
          </p:nvPr>
        </p:nvSpPr>
        <p:spPr>
          <a:xfrm>
            <a:off x="1345250" y="1847125"/>
            <a:ext cx="25320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0" name="Google Shape;50;p13"/>
          <p:cNvSpPr txBox="1">
            <a:spLocks noGrp="1"/>
          </p:cNvSpPr>
          <p:nvPr>
            <p:ph type="subTitle" idx="6"/>
          </p:nvPr>
        </p:nvSpPr>
        <p:spPr>
          <a:xfrm>
            <a:off x="5508575" y="1847125"/>
            <a:ext cx="25320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subTitle" idx="7"/>
          </p:nvPr>
        </p:nvSpPr>
        <p:spPr>
          <a:xfrm>
            <a:off x="1345250" y="3468025"/>
            <a:ext cx="25320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subTitle" idx="8"/>
          </p:nvPr>
        </p:nvSpPr>
        <p:spPr>
          <a:xfrm>
            <a:off x="5508575" y="3468025"/>
            <a:ext cx="25320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0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>
            <a:spLocks noGrp="1"/>
          </p:cNvSpPr>
          <p:nvPr>
            <p:ph type="title"/>
          </p:nvPr>
        </p:nvSpPr>
        <p:spPr>
          <a:xfrm>
            <a:off x="713125" y="2531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4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 txBox="1">
            <a:spLocks noGrp="1"/>
          </p:cNvSpPr>
          <p:nvPr>
            <p:ph type="title"/>
          </p:nvPr>
        </p:nvSpPr>
        <p:spPr>
          <a:xfrm>
            <a:off x="1025875" y="1046175"/>
            <a:ext cx="7675200" cy="92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6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subTitle" idx="1"/>
          </p:nvPr>
        </p:nvSpPr>
        <p:spPr>
          <a:xfrm>
            <a:off x="1025875" y="2295775"/>
            <a:ext cx="5144400" cy="219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ONE_COLUMN_TEXT_1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>
            <a:spLocks noGrp="1"/>
          </p:cNvSpPr>
          <p:nvPr>
            <p:ph type="title"/>
          </p:nvPr>
        </p:nvSpPr>
        <p:spPr>
          <a:xfrm>
            <a:off x="327675" y="209100"/>
            <a:ext cx="4669800" cy="102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subTitle" idx="1"/>
          </p:nvPr>
        </p:nvSpPr>
        <p:spPr>
          <a:xfrm>
            <a:off x="791675" y="1432725"/>
            <a:ext cx="4205700" cy="300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>
            <a:endParaRPr/>
          </a:p>
        </p:txBody>
      </p:sp>
      <p:sp>
        <p:nvSpPr>
          <p:cNvPr id="61" name="Google Shape;61;p16"/>
          <p:cNvSpPr>
            <a:spLocks noGrp="1"/>
          </p:cNvSpPr>
          <p:nvPr>
            <p:ph type="pic" idx="2"/>
          </p:nvPr>
        </p:nvSpPr>
        <p:spPr>
          <a:xfrm>
            <a:off x="5230800" y="0"/>
            <a:ext cx="3913200" cy="5151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_1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7"/>
          <p:cNvSpPr txBox="1">
            <a:spLocks noGrp="1"/>
          </p:cNvSpPr>
          <p:nvPr>
            <p:ph type="title"/>
          </p:nvPr>
        </p:nvSpPr>
        <p:spPr>
          <a:xfrm>
            <a:off x="6291725" y="324456"/>
            <a:ext cx="2402100" cy="91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7"/>
          <p:cNvSpPr txBox="1">
            <a:spLocks noGrp="1"/>
          </p:cNvSpPr>
          <p:nvPr>
            <p:ph type="subTitle" idx="1"/>
          </p:nvPr>
        </p:nvSpPr>
        <p:spPr>
          <a:xfrm>
            <a:off x="5226075" y="3687500"/>
            <a:ext cx="2993700" cy="91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7"/>
          <p:cNvSpPr>
            <a:spLocks noGrp="1"/>
          </p:cNvSpPr>
          <p:nvPr>
            <p:ph type="pic" idx="2"/>
          </p:nvPr>
        </p:nvSpPr>
        <p:spPr>
          <a:xfrm>
            <a:off x="229225" y="207075"/>
            <a:ext cx="2209500" cy="319440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17"/>
          <p:cNvSpPr>
            <a:spLocks noGrp="1"/>
          </p:cNvSpPr>
          <p:nvPr>
            <p:ph type="pic" idx="3"/>
          </p:nvPr>
        </p:nvSpPr>
        <p:spPr>
          <a:xfrm>
            <a:off x="229225" y="3601850"/>
            <a:ext cx="2209500" cy="15417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7"/>
          <p:cNvSpPr>
            <a:spLocks noGrp="1"/>
          </p:cNvSpPr>
          <p:nvPr>
            <p:ph type="pic" idx="4"/>
          </p:nvPr>
        </p:nvSpPr>
        <p:spPr>
          <a:xfrm>
            <a:off x="2607000" y="1506225"/>
            <a:ext cx="2368200" cy="25287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>
            <a:spLocks noGrp="1"/>
          </p:cNvSpPr>
          <p:nvPr>
            <p:ph type="pic" idx="5"/>
          </p:nvPr>
        </p:nvSpPr>
        <p:spPr>
          <a:xfrm>
            <a:off x="2607000" y="-36425"/>
            <a:ext cx="2368200" cy="14139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7"/>
          <p:cNvSpPr>
            <a:spLocks noGrp="1"/>
          </p:cNvSpPr>
          <p:nvPr>
            <p:ph type="pic" idx="6"/>
          </p:nvPr>
        </p:nvSpPr>
        <p:spPr>
          <a:xfrm>
            <a:off x="2607000" y="4163750"/>
            <a:ext cx="2368200" cy="979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327675" y="2531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subTitle" idx="1"/>
          </p:nvPr>
        </p:nvSpPr>
        <p:spPr>
          <a:xfrm>
            <a:off x="3996925" y="1102300"/>
            <a:ext cx="4434000" cy="100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8"/>
          <p:cNvSpPr txBox="1">
            <a:spLocks noGrp="1"/>
          </p:cNvSpPr>
          <p:nvPr>
            <p:ph type="subTitle" idx="2"/>
          </p:nvPr>
        </p:nvSpPr>
        <p:spPr>
          <a:xfrm>
            <a:off x="3996925" y="2187975"/>
            <a:ext cx="4434000" cy="100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subTitle" idx="3"/>
          </p:nvPr>
        </p:nvSpPr>
        <p:spPr>
          <a:xfrm>
            <a:off x="3996925" y="3419900"/>
            <a:ext cx="4434000" cy="103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8"/>
          <p:cNvSpPr txBox="1">
            <a:spLocks noGrp="1"/>
          </p:cNvSpPr>
          <p:nvPr>
            <p:ph type="subTitle" idx="4"/>
          </p:nvPr>
        </p:nvSpPr>
        <p:spPr>
          <a:xfrm>
            <a:off x="1293325" y="1248700"/>
            <a:ext cx="2703600" cy="70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subTitle" idx="5"/>
          </p:nvPr>
        </p:nvSpPr>
        <p:spPr>
          <a:xfrm>
            <a:off x="1293495" y="2334300"/>
            <a:ext cx="2703600" cy="70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subTitle" idx="6"/>
          </p:nvPr>
        </p:nvSpPr>
        <p:spPr>
          <a:xfrm>
            <a:off x="1293495" y="3585500"/>
            <a:ext cx="2703600" cy="70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>
            <a:spLocks noGrp="1"/>
          </p:cNvSpPr>
          <p:nvPr>
            <p:ph type="title"/>
          </p:nvPr>
        </p:nvSpPr>
        <p:spPr>
          <a:xfrm>
            <a:off x="327675" y="2531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9"/>
          <p:cNvSpPr txBox="1">
            <a:spLocks noGrp="1"/>
          </p:cNvSpPr>
          <p:nvPr>
            <p:ph type="subTitle" idx="1"/>
          </p:nvPr>
        </p:nvSpPr>
        <p:spPr>
          <a:xfrm>
            <a:off x="995800" y="1398847"/>
            <a:ext cx="23154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9"/>
          <p:cNvSpPr txBox="1">
            <a:spLocks noGrp="1"/>
          </p:cNvSpPr>
          <p:nvPr>
            <p:ph type="subTitle" idx="2"/>
          </p:nvPr>
        </p:nvSpPr>
        <p:spPr>
          <a:xfrm>
            <a:off x="3555586" y="1398847"/>
            <a:ext cx="23154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subTitle" idx="3"/>
          </p:nvPr>
        </p:nvSpPr>
        <p:spPr>
          <a:xfrm>
            <a:off x="995800" y="3364251"/>
            <a:ext cx="23154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subTitle" idx="4"/>
          </p:nvPr>
        </p:nvSpPr>
        <p:spPr>
          <a:xfrm>
            <a:off x="3555586" y="3364251"/>
            <a:ext cx="23154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9"/>
          <p:cNvSpPr txBox="1">
            <a:spLocks noGrp="1"/>
          </p:cNvSpPr>
          <p:nvPr>
            <p:ph type="subTitle" idx="5"/>
          </p:nvPr>
        </p:nvSpPr>
        <p:spPr>
          <a:xfrm>
            <a:off x="6115373" y="1398847"/>
            <a:ext cx="23154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9"/>
          <p:cNvSpPr txBox="1">
            <a:spLocks noGrp="1"/>
          </p:cNvSpPr>
          <p:nvPr>
            <p:ph type="subTitle" idx="6"/>
          </p:nvPr>
        </p:nvSpPr>
        <p:spPr>
          <a:xfrm>
            <a:off x="6115373" y="3364251"/>
            <a:ext cx="23154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9"/>
          <p:cNvSpPr txBox="1">
            <a:spLocks noGrp="1"/>
          </p:cNvSpPr>
          <p:nvPr>
            <p:ph type="subTitle" idx="7"/>
          </p:nvPr>
        </p:nvSpPr>
        <p:spPr>
          <a:xfrm>
            <a:off x="995800" y="905563"/>
            <a:ext cx="23154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7" name="Google Shape;87;p19"/>
          <p:cNvSpPr txBox="1">
            <a:spLocks noGrp="1"/>
          </p:cNvSpPr>
          <p:nvPr>
            <p:ph type="subTitle" idx="8"/>
          </p:nvPr>
        </p:nvSpPr>
        <p:spPr>
          <a:xfrm>
            <a:off x="3555586" y="905563"/>
            <a:ext cx="2313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subTitle" idx="9"/>
          </p:nvPr>
        </p:nvSpPr>
        <p:spPr>
          <a:xfrm>
            <a:off x="6115373" y="905563"/>
            <a:ext cx="2313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9" name="Google Shape;89;p19"/>
          <p:cNvSpPr txBox="1">
            <a:spLocks noGrp="1"/>
          </p:cNvSpPr>
          <p:nvPr>
            <p:ph type="subTitle" idx="13"/>
          </p:nvPr>
        </p:nvSpPr>
        <p:spPr>
          <a:xfrm>
            <a:off x="995800" y="2867745"/>
            <a:ext cx="23154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90" name="Google Shape;90;p19"/>
          <p:cNvSpPr txBox="1">
            <a:spLocks noGrp="1"/>
          </p:cNvSpPr>
          <p:nvPr>
            <p:ph type="subTitle" idx="14"/>
          </p:nvPr>
        </p:nvSpPr>
        <p:spPr>
          <a:xfrm>
            <a:off x="3555586" y="2867752"/>
            <a:ext cx="2313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91" name="Google Shape;91;p19"/>
          <p:cNvSpPr txBox="1">
            <a:spLocks noGrp="1"/>
          </p:cNvSpPr>
          <p:nvPr>
            <p:ph type="subTitle" idx="15"/>
          </p:nvPr>
        </p:nvSpPr>
        <p:spPr>
          <a:xfrm>
            <a:off x="6115373" y="2867752"/>
            <a:ext cx="2313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bg>
      <p:bgPr>
        <a:solidFill>
          <a:schemeClr val="dk1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0"/>
          <p:cNvSpPr txBox="1">
            <a:spLocks noGrp="1"/>
          </p:cNvSpPr>
          <p:nvPr>
            <p:ph type="title" hasCustomPrompt="1"/>
          </p:nvPr>
        </p:nvSpPr>
        <p:spPr>
          <a:xfrm>
            <a:off x="713225" y="3049568"/>
            <a:ext cx="23415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4" name="Google Shape;94;p20"/>
          <p:cNvSpPr txBox="1">
            <a:spLocks noGrp="1"/>
          </p:cNvSpPr>
          <p:nvPr>
            <p:ph type="subTitle" idx="1"/>
          </p:nvPr>
        </p:nvSpPr>
        <p:spPr>
          <a:xfrm>
            <a:off x="713225" y="3818488"/>
            <a:ext cx="23415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95" name="Google Shape;95;p20"/>
          <p:cNvSpPr txBox="1">
            <a:spLocks noGrp="1"/>
          </p:cNvSpPr>
          <p:nvPr>
            <p:ph type="title" idx="2" hasCustomPrompt="1"/>
          </p:nvPr>
        </p:nvSpPr>
        <p:spPr>
          <a:xfrm>
            <a:off x="3401250" y="3049563"/>
            <a:ext cx="23415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6" name="Google Shape;96;p20"/>
          <p:cNvSpPr txBox="1">
            <a:spLocks noGrp="1"/>
          </p:cNvSpPr>
          <p:nvPr>
            <p:ph type="subTitle" idx="3"/>
          </p:nvPr>
        </p:nvSpPr>
        <p:spPr>
          <a:xfrm>
            <a:off x="3401250" y="3818472"/>
            <a:ext cx="23415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title" idx="4" hasCustomPrompt="1"/>
          </p:nvPr>
        </p:nvSpPr>
        <p:spPr>
          <a:xfrm>
            <a:off x="6089276" y="3049568"/>
            <a:ext cx="23415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8" name="Google Shape;98;p20"/>
          <p:cNvSpPr txBox="1">
            <a:spLocks noGrp="1"/>
          </p:cNvSpPr>
          <p:nvPr>
            <p:ph type="subTitle" idx="5"/>
          </p:nvPr>
        </p:nvSpPr>
        <p:spPr>
          <a:xfrm>
            <a:off x="6089276" y="3818488"/>
            <a:ext cx="23415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99" name="Google Shape;99;p20"/>
          <p:cNvSpPr txBox="1">
            <a:spLocks noGrp="1"/>
          </p:cNvSpPr>
          <p:nvPr>
            <p:ph type="title" idx="6" hasCustomPrompt="1"/>
          </p:nvPr>
        </p:nvSpPr>
        <p:spPr>
          <a:xfrm>
            <a:off x="713225" y="900313"/>
            <a:ext cx="5252100" cy="1073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0" name="Google Shape;100;p20"/>
          <p:cNvSpPr txBox="1">
            <a:spLocks noGrp="1"/>
          </p:cNvSpPr>
          <p:nvPr>
            <p:ph type="subTitle" idx="7"/>
          </p:nvPr>
        </p:nvSpPr>
        <p:spPr>
          <a:xfrm>
            <a:off x="713225" y="1973414"/>
            <a:ext cx="52521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 sz="16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bg>
      <p:bgPr>
        <a:solidFill>
          <a:schemeClr val="dk1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>
            <a:spLocks noGrp="1"/>
          </p:cNvSpPr>
          <p:nvPr>
            <p:ph type="title"/>
          </p:nvPr>
        </p:nvSpPr>
        <p:spPr>
          <a:xfrm>
            <a:off x="327675" y="240475"/>
            <a:ext cx="5539500" cy="105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5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subTitle" idx="1"/>
          </p:nvPr>
        </p:nvSpPr>
        <p:spPr>
          <a:xfrm>
            <a:off x="3998350" y="2042397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1"/>
          <p:cNvSpPr txBox="1"/>
          <p:nvPr/>
        </p:nvSpPr>
        <p:spPr>
          <a:xfrm>
            <a:off x="4447275" y="3757600"/>
            <a:ext cx="3999300" cy="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CREDITS:</a:t>
            </a:r>
            <a:r>
              <a:rPr lang="en" sz="1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This presentation template was created by </a:t>
            </a:r>
            <a:r>
              <a:rPr lang="en" sz="1000" b="1" u="sng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, and includes icons, infographics &amp; images by </a:t>
            </a:r>
            <a:r>
              <a:rPr lang="en" sz="1000" b="1" u="sng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1000" b="1" u="sng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bg>
      <p:bgPr>
        <a:solidFill>
          <a:schemeClr val="dk1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anrope"/>
              <a:buNone/>
              <a:defRPr sz="2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anrope"/>
              <a:buNone/>
              <a:defRPr sz="2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anrope"/>
              <a:buNone/>
              <a:defRPr sz="2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anrope"/>
              <a:buNone/>
              <a:defRPr sz="2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anrope"/>
              <a:buNone/>
              <a:defRPr sz="2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anrope"/>
              <a:buNone/>
              <a:defRPr sz="2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anrope"/>
              <a:buNone/>
              <a:defRPr sz="2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anrope"/>
              <a:buNone/>
              <a:defRPr sz="2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anrope"/>
              <a:buNone/>
              <a:defRPr sz="2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task1.docx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7" Type="http://schemas.openxmlformats.org/officeDocument/2006/relationships/image" Target="../media/image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task4.docx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9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2" name="Google Shape;122;p28"/>
          <p:cNvCxnSpPr/>
          <p:nvPr/>
        </p:nvCxnSpPr>
        <p:spPr>
          <a:xfrm>
            <a:off x="-5300" y="4126800"/>
            <a:ext cx="9182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3" name="Google Shape;123;p28"/>
          <p:cNvPicPr preferRelativeResize="0">
            <a:picLocks noGrp="1"/>
          </p:cNvPicPr>
          <p:nvPr>
            <p:ph type="pic" idx="2"/>
          </p:nvPr>
        </p:nvPicPr>
        <p:blipFill>
          <a:blip r:embed="rId3">
            <a:alphaModFix/>
          </a:blip>
          <a:srcRect l="17189" r="710" b="25534"/>
          <a:stretch>
            <a:fillRect/>
          </a:stretch>
        </p:blipFill>
        <p:spPr>
          <a:xfrm>
            <a:off x="5363525" y="0"/>
            <a:ext cx="3780598" cy="5143501"/>
          </a:xfrm>
          <a:prstGeom prst="rect">
            <a:avLst/>
          </a:prstGeom>
        </p:spPr>
      </p:pic>
      <p:sp>
        <p:nvSpPr>
          <p:cNvPr id="124" name="Google Shape;124;p28"/>
          <p:cNvSpPr txBox="1">
            <a:spLocks noGrp="1"/>
          </p:cNvSpPr>
          <p:nvPr>
            <p:ph type="ctrTitle"/>
          </p:nvPr>
        </p:nvSpPr>
        <p:spPr>
          <a:xfrm>
            <a:off x="327675" y="633046"/>
            <a:ext cx="4593900" cy="274110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Launching &amp; </a:t>
            </a:r>
            <a:br>
              <a:rPr lang="en-IN" dirty="0"/>
            </a:br>
            <a:r>
              <a:rPr lang="en-IN" dirty="0"/>
              <a:t>Optimizing a </a:t>
            </a:r>
            <a:br>
              <a:rPr lang="en-IN" dirty="0"/>
            </a:br>
            <a:r>
              <a:rPr lang="en-IN" dirty="0"/>
              <a:t>Product on </a:t>
            </a:r>
            <a:br>
              <a:rPr lang="en-IN" dirty="0"/>
            </a:br>
            <a:r>
              <a:rPr lang="en-IN" dirty="0"/>
              <a:t>Amazon</a:t>
            </a:r>
            <a:br>
              <a:rPr lang="en-IN" dirty="0"/>
            </a:br>
            <a:endParaRPr b="0" dirty="0"/>
          </a:p>
        </p:txBody>
      </p:sp>
      <p:sp>
        <p:nvSpPr>
          <p:cNvPr id="125" name="Google Shape;125;p28"/>
          <p:cNvSpPr txBox="1">
            <a:spLocks noGrp="1"/>
          </p:cNvSpPr>
          <p:nvPr>
            <p:ph type="subTitle" idx="1"/>
          </p:nvPr>
        </p:nvSpPr>
        <p:spPr>
          <a:xfrm>
            <a:off x="327675" y="4206575"/>
            <a:ext cx="4593900" cy="51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dirty="0"/>
              <a:t>G</a:t>
            </a:r>
            <a:r>
              <a:rPr lang="en" sz="1400" dirty="0"/>
              <a:t>uided by Chhavi Patel Ma’am</a:t>
            </a:r>
            <a:endParaRPr sz="1400" dirty="0"/>
          </a:p>
        </p:txBody>
      </p:sp>
      <p:sp>
        <p:nvSpPr>
          <p:cNvPr id="2" name="Google Shape;125;p28">
            <a:extLst>
              <a:ext uri="{FF2B5EF4-FFF2-40B4-BE49-F238E27FC236}">
                <a16:creationId xmlns:a16="http://schemas.microsoft.com/office/drawing/2014/main" id="{4DCD6386-2FFE-6BCD-19B4-74EB06B9F568}"/>
              </a:ext>
            </a:extLst>
          </p:cNvPr>
          <p:cNvSpPr txBox="1">
            <a:spLocks/>
          </p:cNvSpPr>
          <p:nvPr/>
        </p:nvSpPr>
        <p:spPr>
          <a:xfrm>
            <a:off x="382953" y="296172"/>
            <a:ext cx="4538621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/>
            <a:r>
              <a:rPr lang="en-US" sz="1400" dirty="0"/>
              <a:t>Course7_Project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7" name="Google Shape;157;p31"/>
          <p:cNvCxnSpPr/>
          <p:nvPr/>
        </p:nvCxnSpPr>
        <p:spPr>
          <a:xfrm>
            <a:off x="-5300" y="1311275"/>
            <a:ext cx="9182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8" name="Google Shape;158;p31"/>
          <p:cNvSpPr txBox="1">
            <a:spLocks noGrp="1"/>
          </p:cNvSpPr>
          <p:nvPr>
            <p:ph type="title"/>
          </p:nvPr>
        </p:nvSpPr>
        <p:spPr>
          <a:xfrm>
            <a:off x="327675" y="209100"/>
            <a:ext cx="4669800" cy="102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dirty="0"/>
              <a:t>The Eco-Wave Story</a:t>
            </a:r>
            <a:endParaRPr dirty="0"/>
          </a:p>
        </p:txBody>
      </p:sp>
      <p:sp>
        <p:nvSpPr>
          <p:cNvPr id="159" name="Google Shape;159;p31"/>
          <p:cNvSpPr txBox="1">
            <a:spLocks noGrp="1"/>
          </p:cNvSpPr>
          <p:nvPr>
            <p:ph type="subTitle" idx="1"/>
          </p:nvPr>
        </p:nvSpPr>
        <p:spPr>
          <a:xfrm>
            <a:off x="327675" y="1432725"/>
            <a:ext cx="4669700" cy="300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SzPts val="1100"/>
              <a:buNone/>
            </a:pPr>
            <a:r>
              <a:rPr lang="en-IN" sz="1400" dirty="0"/>
              <a:t>We love the ocean, but we hated seeing it filled with plastic trash. So, we started Eco-Wave to fix it by making premium, reusable steel bottles out of clean, eco-friendly materials.</a:t>
            </a:r>
          </a:p>
          <a:p>
            <a:pPr marL="0" lvl="0" indent="0">
              <a:buSzPts val="1100"/>
              <a:buNone/>
            </a:pPr>
            <a:endParaRPr lang="en-IN" sz="1400" dirty="0"/>
          </a:p>
          <a:p>
            <a:pPr marL="0" lvl="0" indent="0">
              <a:buSzPts val="1100"/>
              <a:buNone/>
            </a:pPr>
            <a:r>
              <a:rPr lang="en-IN" sz="1400" dirty="0"/>
              <a:t>Great design meets a cleaner planet. Our insulated stainless-steel bottles keep your drinks ice-cold or piping hot all day, helping you cut down on plastic with every single sip</a:t>
            </a:r>
          </a:p>
          <a:p>
            <a:pPr marL="0" lvl="0" indent="0">
              <a:buSzPts val="1100"/>
              <a:buNone/>
            </a:pPr>
            <a:endParaRPr dirty="0"/>
          </a:p>
        </p:txBody>
      </p:sp>
      <p:pic>
        <p:nvPicPr>
          <p:cNvPr id="160" name="Google Shape;160;p31"/>
          <p:cNvPicPr preferRelativeResize="0">
            <a:picLocks noGrp="1"/>
          </p:cNvPicPr>
          <p:nvPr>
            <p:ph type="pic" idx="2"/>
          </p:nvPr>
        </p:nvPicPr>
        <p:blipFill>
          <a:blip r:embed="rId3">
            <a:alphaModFix/>
          </a:blip>
          <a:srcRect l="29928" r="28636"/>
          <a:stretch>
            <a:fillRect/>
          </a:stretch>
        </p:blipFill>
        <p:spPr>
          <a:xfrm>
            <a:off x="5230800" y="0"/>
            <a:ext cx="3913201" cy="51512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5" name="Google Shape;165;p32"/>
          <p:cNvCxnSpPr/>
          <p:nvPr/>
        </p:nvCxnSpPr>
        <p:spPr>
          <a:xfrm>
            <a:off x="0" y="4366971"/>
            <a:ext cx="91821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66" name="Google Shape;166;p32"/>
          <p:cNvPicPr preferRelativeResize="0">
            <a:picLocks noGrp="1"/>
          </p:cNvPicPr>
          <p:nvPr>
            <p:ph type="pic" idx="2"/>
          </p:nvPr>
        </p:nvPicPr>
        <p:blipFill>
          <a:blip r:embed="rId3">
            <a:alphaModFix/>
          </a:blip>
          <a:srcRect l="17691" t="727" b="18418"/>
          <a:stretch>
            <a:fillRect/>
          </a:stretch>
        </p:blipFill>
        <p:spPr>
          <a:xfrm>
            <a:off x="0" y="0"/>
            <a:ext cx="3493448" cy="5143501"/>
          </a:xfrm>
          <a:prstGeom prst="rect">
            <a:avLst/>
          </a:prstGeom>
        </p:spPr>
      </p:pic>
      <p:sp>
        <p:nvSpPr>
          <p:cNvPr id="167" name="Google Shape;167;p32"/>
          <p:cNvSpPr txBox="1">
            <a:spLocks noGrp="1"/>
          </p:cNvSpPr>
          <p:nvPr>
            <p:ph type="title"/>
          </p:nvPr>
        </p:nvSpPr>
        <p:spPr>
          <a:xfrm>
            <a:off x="4371278" y="1567166"/>
            <a:ext cx="4177990" cy="18473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-IN" sz="2000" dirty="0"/>
              <a:t>To protect the planet for future generations by providing high-quality, stylish stainless-steel bottles that reduce single-use plastics and make sustainable living easily by building a brand </a:t>
            </a:r>
            <a:br>
              <a:rPr lang="en-IN" sz="2000" dirty="0"/>
            </a:br>
            <a:r>
              <a:rPr lang="en-IN" sz="2000" dirty="0"/>
              <a:t>on amazon.</a:t>
            </a:r>
            <a:endParaRPr sz="2000" dirty="0"/>
          </a:p>
        </p:txBody>
      </p:sp>
      <p:cxnSp>
        <p:nvCxnSpPr>
          <p:cNvPr id="169" name="Google Shape;169;p32"/>
          <p:cNvCxnSpPr>
            <a:cxnSpLocks/>
          </p:cNvCxnSpPr>
          <p:nvPr/>
        </p:nvCxnSpPr>
        <p:spPr>
          <a:xfrm>
            <a:off x="3493448" y="1036650"/>
            <a:ext cx="5683352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Google Shape;141;p30">
            <a:extLst>
              <a:ext uri="{FF2B5EF4-FFF2-40B4-BE49-F238E27FC236}">
                <a16:creationId xmlns:a16="http://schemas.microsoft.com/office/drawing/2014/main" id="{86A084C6-96E5-4474-D54B-674A9E463BB3}"/>
              </a:ext>
            </a:extLst>
          </p:cNvPr>
          <p:cNvSpPr txBox="1">
            <a:spLocks/>
          </p:cNvSpPr>
          <p:nvPr/>
        </p:nvSpPr>
        <p:spPr>
          <a:xfrm>
            <a:off x="3673040" y="168655"/>
            <a:ext cx="3025125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anrope"/>
              <a:buNone/>
              <a:defRPr sz="40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anrope"/>
              <a:buNone/>
              <a:defRPr sz="3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anrope"/>
              <a:buNone/>
              <a:defRPr sz="3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anrope"/>
              <a:buNone/>
              <a:defRPr sz="3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anrope"/>
              <a:buNone/>
              <a:defRPr sz="3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anrope"/>
              <a:buNone/>
              <a:defRPr sz="3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anrope"/>
              <a:buNone/>
              <a:defRPr sz="3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anrope"/>
              <a:buNone/>
              <a:defRPr sz="3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anrope"/>
              <a:buNone/>
              <a:defRPr sz="3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algn="l"/>
            <a:r>
              <a:rPr lang="en-IN" dirty="0"/>
              <a:t>Objective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6"/>
          <p:cNvSpPr txBox="1">
            <a:spLocks noGrp="1"/>
          </p:cNvSpPr>
          <p:nvPr>
            <p:ph type="title"/>
          </p:nvPr>
        </p:nvSpPr>
        <p:spPr>
          <a:xfrm>
            <a:off x="327675" y="2531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K</a:t>
            </a:r>
            <a:r>
              <a:rPr lang="en" dirty="0"/>
              <a:t>ey Values </a:t>
            </a:r>
            <a:endParaRPr dirty="0"/>
          </a:p>
        </p:txBody>
      </p:sp>
      <p:sp>
        <p:nvSpPr>
          <p:cNvPr id="211" name="Google Shape;211;p36"/>
          <p:cNvSpPr txBox="1">
            <a:spLocks noGrp="1"/>
          </p:cNvSpPr>
          <p:nvPr>
            <p:ph type="subTitle" idx="1"/>
          </p:nvPr>
        </p:nvSpPr>
        <p:spPr>
          <a:xfrm>
            <a:off x="995800" y="1398847"/>
            <a:ext cx="23154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en-US" sz="1600" dirty="0"/>
              <a:t>Prioritizing eco-friendly materials and practices </a:t>
            </a:r>
          </a:p>
        </p:txBody>
      </p:sp>
      <p:sp>
        <p:nvSpPr>
          <p:cNvPr id="212" name="Google Shape;212;p36"/>
          <p:cNvSpPr txBox="1">
            <a:spLocks noGrp="1"/>
          </p:cNvSpPr>
          <p:nvPr>
            <p:ph type="subTitle" idx="2"/>
          </p:nvPr>
        </p:nvSpPr>
        <p:spPr>
          <a:xfrm>
            <a:off x="3555586" y="1398847"/>
            <a:ext cx="23154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en-US" sz="1600" dirty="0"/>
              <a:t>Offering durable and reliable products build to last </a:t>
            </a:r>
          </a:p>
        </p:txBody>
      </p:sp>
      <p:sp>
        <p:nvSpPr>
          <p:cNvPr id="213" name="Google Shape;213;p36"/>
          <p:cNvSpPr txBox="1">
            <a:spLocks noGrp="1"/>
          </p:cNvSpPr>
          <p:nvPr>
            <p:ph type="subTitle" idx="3"/>
          </p:nvPr>
        </p:nvSpPr>
        <p:spPr>
          <a:xfrm>
            <a:off x="995800" y="3364251"/>
            <a:ext cx="23154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en-US" sz="1600" dirty="0"/>
              <a:t>Continuously improving products for better user experience </a:t>
            </a:r>
          </a:p>
        </p:txBody>
      </p:sp>
      <p:sp>
        <p:nvSpPr>
          <p:cNvPr id="214" name="Google Shape;214;p36"/>
          <p:cNvSpPr txBox="1">
            <a:spLocks noGrp="1"/>
          </p:cNvSpPr>
          <p:nvPr>
            <p:ph type="subTitle" idx="4"/>
          </p:nvPr>
        </p:nvSpPr>
        <p:spPr>
          <a:xfrm>
            <a:off x="3555586" y="3364251"/>
            <a:ext cx="23154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1600" dirty="0"/>
              <a:t>Encouraging conscious choices that reduce environmental impact </a:t>
            </a:r>
          </a:p>
        </p:txBody>
      </p:sp>
      <p:sp>
        <p:nvSpPr>
          <p:cNvPr id="215" name="Google Shape;215;p36"/>
          <p:cNvSpPr txBox="1">
            <a:spLocks noGrp="1"/>
          </p:cNvSpPr>
          <p:nvPr>
            <p:ph type="subTitle" idx="7"/>
          </p:nvPr>
        </p:nvSpPr>
        <p:spPr>
          <a:xfrm>
            <a:off x="995800" y="905563"/>
            <a:ext cx="23154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IN" b="1" u="sng" dirty="0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</a:rPr>
              <a:t>Sustainability </a:t>
            </a:r>
            <a:endParaRPr lang="en-IN" b="1" u="sng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6" name="Google Shape;216;p36"/>
          <p:cNvSpPr txBox="1">
            <a:spLocks noGrp="1"/>
          </p:cNvSpPr>
          <p:nvPr>
            <p:ph type="subTitle" idx="8"/>
          </p:nvPr>
        </p:nvSpPr>
        <p:spPr>
          <a:xfrm>
            <a:off x="3555586" y="905563"/>
            <a:ext cx="2313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IN" b="1" u="sng" dirty="0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</a:rPr>
              <a:t>Quality </a:t>
            </a:r>
            <a:endParaRPr lang="en-IN" b="1" u="sng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7" name="Google Shape;217;p36"/>
          <p:cNvSpPr txBox="1">
            <a:spLocks noGrp="1"/>
          </p:cNvSpPr>
          <p:nvPr>
            <p:ph type="subTitle" idx="9"/>
          </p:nvPr>
        </p:nvSpPr>
        <p:spPr>
          <a:xfrm>
            <a:off x="6115373" y="905563"/>
            <a:ext cx="2313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IN" b="1" u="sng" dirty="0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</a:rPr>
              <a:t>Style </a:t>
            </a:r>
            <a:endParaRPr lang="en-IN" b="1" u="sng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8" name="Google Shape;218;p36"/>
          <p:cNvSpPr txBox="1">
            <a:spLocks noGrp="1"/>
          </p:cNvSpPr>
          <p:nvPr>
            <p:ph type="subTitle" idx="5"/>
          </p:nvPr>
        </p:nvSpPr>
        <p:spPr>
          <a:xfrm>
            <a:off x="6115373" y="1398847"/>
            <a:ext cx="23154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en-US" sz="1600" dirty="0"/>
              <a:t>Designing bottles that are modern, functional, and attractive</a:t>
            </a:r>
          </a:p>
        </p:txBody>
      </p:sp>
      <p:sp>
        <p:nvSpPr>
          <p:cNvPr id="219" name="Google Shape;219;p36"/>
          <p:cNvSpPr txBox="1">
            <a:spLocks noGrp="1"/>
          </p:cNvSpPr>
          <p:nvPr>
            <p:ph type="subTitle" idx="6"/>
          </p:nvPr>
        </p:nvSpPr>
        <p:spPr>
          <a:xfrm>
            <a:off x="6115373" y="3364251"/>
            <a:ext cx="23154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en-US" sz="1600" dirty="0"/>
              <a:t>Making eco-friendly living simple and available to everyone </a:t>
            </a:r>
          </a:p>
        </p:txBody>
      </p:sp>
      <p:sp>
        <p:nvSpPr>
          <p:cNvPr id="220" name="Google Shape;220;p36"/>
          <p:cNvSpPr txBox="1">
            <a:spLocks noGrp="1"/>
          </p:cNvSpPr>
          <p:nvPr>
            <p:ph type="subTitle" idx="13"/>
          </p:nvPr>
        </p:nvSpPr>
        <p:spPr>
          <a:xfrm>
            <a:off x="995800" y="2867745"/>
            <a:ext cx="23154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IN" b="1" u="sng" dirty="0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</a:rPr>
              <a:t>Innovation </a:t>
            </a:r>
            <a:endParaRPr lang="en-IN" b="1" u="sng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1" name="Google Shape;221;p36"/>
          <p:cNvSpPr txBox="1">
            <a:spLocks noGrp="1"/>
          </p:cNvSpPr>
          <p:nvPr>
            <p:ph type="subTitle" idx="14"/>
          </p:nvPr>
        </p:nvSpPr>
        <p:spPr>
          <a:xfrm>
            <a:off x="3555586" y="2867752"/>
            <a:ext cx="2313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b="1" u="sng" dirty="0">
                <a:latin typeface="Open Sans"/>
                <a:ea typeface="Open Sans"/>
                <a:cs typeface="Open Sans"/>
                <a:sym typeface="Open Sans"/>
              </a:rPr>
              <a:t>Responsibility </a:t>
            </a:r>
          </a:p>
        </p:txBody>
      </p:sp>
      <p:sp>
        <p:nvSpPr>
          <p:cNvPr id="222" name="Google Shape;222;p36"/>
          <p:cNvSpPr txBox="1">
            <a:spLocks noGrp="1"/>
          </p:cNvSpPr>
          <p:nvPr>
            <p:ph type="subTitle" idx="15"/>
          </p:nvPr>
        </p:nvSpPr>
        <p:spPr>
          <a:xfrm>
            <a:off x="6115373" y="2867752"/>
            <a:ext cx="2313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IN" b="1" u="sng" dirty="0">
                <a:latin typeface="Open Sans"/>
                <a:ea typeface="Open Sans"/>
                <a:cs typeface="Open Sans"/>
                <a:sym typeface="Open Sans"/>
              </a:rPr>
              <a:t>Accessibility </a:t>
            </a:r>
          </a:p>
        </p:txBody>
      </p:sp>
      <p:cxnSp>
        <p:nvCxnSpPr>
          <p:cNvPr id="223" name="Google Shape;223;p36"/>
          <p:cNvCxnSpPr/>
          <p:nvPr/>
        </p:nvCxnSpPr>
        <p:spPr>
          <a:xfrm>
            <a:off x="-5300" y="835350"/>
            <a:ext cx="9182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4" name="Google Shape;224;p36"/>
          <p:cNvCxnSpPr/>
          <p:nvPr/>
        </p:nvCxnSpPr>
        <p:spPr>
          <a:xfrm>
            <a:off x="-5300" y="2868100"/>
            <a:ext cx="9182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9"/>
          <p:cNvSpPr txBox="1">
            <a:spLocks noGrp="1"/>
          </p:cNvSpPr>
          <p:nvPr>
            <p:ph type="title"/>
          </p:nvPr>
        </p:nvSpPr>
        <p:spPr>
          <a:xfrm>
            <a:off x="327675" y="2531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K</a:t>
            </a:r>
            <a:r>
              <a:rPr lang="en" dirty="0"/>
              <a:t>ey Product Features  </a:t>
            </a:r>
            <a:endParaRPr dirty="0"/>
          </a:p>
        </p:txBody>
      </p:sp>
      <p:graphicFrame>
        <p:nvGraphicFramePr>
          <p:cNvPr id="131" name="Google Shape;131;p29"/>
          <p:cNvGraphicFramePr/>
          <p:nvPr>
            <p:extLst>
              <p:ext uri="{D42A27DB-BD31-4B8C-83A1-F6EECF244321}">
                <p14:modId xmlns:p14="http://schemas.microsoft.com/office/powerpoint/2010/main" val="4179686197"/>
              </p:ext>
            </p:extLst>
          </p:nvPr>
        </p:nvGraphicFramePr>
        <p:xfrm>
          <a:off x="484869" y="1238260"/>
          <a:ext cx="8136161" cy="2913006"/>
        </p:xfrm>
        <a:graphic>
          <a:graphicData uri="http://schemas.openxmlformats.org/drawingml/2006/table">
            <a:tbl>
              <a:tblPr>
                <a:noFill/>
                <a:tableStyleId>{FC6937B6-6A88-4EC7-9717-D5DF0EBBDC24}</a:tableStyleId>
              </a:tblPr>
              <a:tblGrid>
                <a:gridCol w="24909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452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438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1" u="none" dirty="0">
                          <a:solidFill>
                            <a:schemeClr val="hlink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r>
                        <a:rPr lang="en" sz="1400" b="1" u="none" dirty="0">
                          <a:solidFill>
                            <a:schemeClr val="hlink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co-Friendly Material  </a:t>
                      </a:r>
                      <a:endParaRPr sz="1400" b="1" u="none" dirty="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Made from high-quality, sustainable stainless steel</a:t>
                      </a:r>
                      <a:endParaRPr sz="1400" dirty="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438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dirty="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Durable &amp; Long Lasting </a:t>
                      </a:r>
                      <a:endParaRPr sz="1400" b="1" u="none" dirty="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Built to last through daily use and outdoor trips</a:t>
                      </a:r>
                      <a:endParaRPr sz="1400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Open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438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Temperature Control</a:t>
                      </a:r>
                      <a:endParaRPr sz="1400" b="1" u="sng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Open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Keeps your drinks hot or cold for hours</a:t>
                      </a:r>
                      <a:endParaRPr sz="1400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Open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438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Reusable</a:t>
                      </a:r>
                      <a:endParaRPr sz="1400" b="1" u="sng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Open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Helps you stop using disposable plastic bottles</a:t>
                      </a:r>
                      <a:endParaRPr sz="1400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Open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438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dirty="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Design </a:t>
                      </a:r>
                      <a:endParaRPr sz="1400" b="1" u="none" dirty="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Modern style that is perfect for the gym, travel, or everyday use</a:t>
                      </a:r>
                      <a:endParaRPr sz="1400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Open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438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No Spills, Safe to Use</a:t>
                      </a:r>
                      <a:endParaRPr sz="1400" b="1" u="sng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Open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A tight lid that prevents leaks so you can drink safely</a:t>
                      </a:r>
                      <a:endParaRPr sz="1400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Open Sans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3319000"/>
                  </a:ext>
                </a:extLst>
              </a:tr>
              <a:tr h="41438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Easy to Carry</a:t>
                      </a:r>
                      <a:endParaRPr sz="1400" b="1" u="sng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Open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Lightweight and perfect for taking with you on outdoor activities or your daily commute</a:t>
                      </a:r>
                      <a:endParaRPr sz="1400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Open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135" name="Google Shape;135;p29"/>
          <p:cNvCxnSpPr/>
          <p:nvPr/>
        </p:nvCxnSpPr>
        <p:spPr>
          <a:xfrm>
            <a:off x="-5300" y="835350"/>
            <a:ext cx="9182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" name="Google Shape;136;p29"/>
          <p:cNvCxnSpPr/>
          <p:nvPr/>
        </p:nvCxnSpPr>
        <p:spPr>
          <a:xfrm>
            <a:off x="-38100" y="4554175"/>
            <a:ext cx="9182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3"/>
          <p:cNvSpPr txBox="1">
            <a:spLocks noGrp="1"/>
          </p:cNvSpPr>
          <p:nvPr>
            <p:ph type="title"/>
          </p:nvPr>
        </p:nvSpPr>
        <p:spPr>
          <a:xfrm>
            <a:off x="981270" y="421312"/>
            <a:ext cx="7675200" cy="76314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T</a:t>
            </a:r>
            <a:r>
              <a:rPr lang="en" dirty="0"/>
              <a:t>asks </a:t>
            </a:r>
            <a:endParaRPr dirty="0"/>
          </a:p>
        </p:txBody>
      </p:sp>
      <p:sp>
        <p:nvSpPr>
          <p:cNvPr id="176" name="Google Shape;176;p33"/>
          <p:cNvSpPr txBox="1">
            <a:spLocks noGrp="1"/>
          </p:cNvSpPr>
          <p:nvPr>
            <p:ph type="subTitle" idx="1"/>
          </p:nvPr>
        </p:nvSpPr>
        <p:spPr>
          <a:xfrm>
            <a:off x="512957" y="1689848"/>
            <a:ext cx="6638692" cy="32841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sz="1800" dirty="0"/>
              <a:t>Setup Amazon Seller Account &amp; Create product listing</a:t>
            </a:r>
          </a:p>
          <a:p>
            <a:r>
              <a:rPr lang="en-IN" sz="1800" dirty="0"/>
              <a:t>Apply Amazon algorithm knowledge</a:t>
            </a:r>
          </a:p>
          <a:p>
            <a:r>
              <a:rPr lang="en-IN" sz="1800" dirty="0"/>
              <a:t>Implement SEO techniques</a:t>
            </a:r>
          </a:p>
          <a:p>
            <a:r>
              <a:rPr lang="en-IN" sz="1800" dirty="0"/>
              <a:t>Set up Amazon PPC Ad campaign</a:t>
            </a:r>
          </a:p>
          <a:p>
            <a:r>
              <a:rPr lang="en-IN" sz="1800" dirty="0"/>
              <a:t>Apply advance bidding strategies</a:t>
            </a:r>
          </a:p>
          <a:p>
            <a:r>
              <a:rPr lang="en-IN" sz="1800" dirty="0"/>
              <a:t>Develop Review &amp; customer engagement strategies</a:t>
            </a:r>
          </a:p>
          <a:p>
            <a:r>
              <a:rPr lang="en-IN" sz="1800" dirty="0"/>
              <a:t>Analyse performance and make adjustments</a:t>
            </a:r>
          </a:p>
        </p:txBody>
      </p:sp>
      <p:cxnSp>
        <p:nvCxnSpPr>
          <p:cNvPr id="177" name="Google Shape;177;p33"/>
          <p:cNvCxnSpPr/>
          <p:nvPr/>
        </p:nvCxnSpPr>
        <p:spPr>
          <a:xfrm>
            <a:off x="0" y="1246367"/>
            <a:ext cx="9182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0"/>
          <p:cNvSpPr txBox="1">
            <a:spLocks noGrp="1"/>
          </p:cNvSpPr>
          <p:nvPr>
            <p:ph type="title"/>
          </p:nvPr>
        </p:nvSpPr>
        <p:spPr>
          <a:xfrm>
            <a:off x="81776" y="251175"/>
            <a:ext cx="906222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sz="2800" dirty="0"/>
              <a:t>Setup Amazon Seller Account &amp; Product listing</a:t>
            </a:r>
            <a:br>
              <a:rPr lang="en-IN" sz="2800" dirty="0"/>
            </a:br>
            <a:endParaRPr dirty="0"/>
          </a:p>
        </p:txBody>
      </p:sp>
      <p:sp>
        <p:nvSpPr>
          <p:cNvPr id="142" name="Google Shape;142;p30"/>
          <p:cNvSpPr txBox="1">
            <a:spLocks noGrp="1"/>
          </p:cNvSpPr>
          <p:nvPr>
            <p:ph type="title" idx="2"/>
          </p:nvPr>
        </p:nvSpPr>
        <p:spPr>
          <a:xfrm>
            <a:off x="3705922" y="1519565"/>
            <a:ext cx="1732156" cy="63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T</a:t>
            </a:r>
            <a:r>
              <a:rPr lang="en" dirty="0"/>
              <a:t>ask 1</a:t>
            </a:r>
            <a:endParaRPr dirty="0"/>
          </a:p>
        </p:txBody>
      </p:sp>
      <p:sp>
        <p:nvSpPr>
          <p:cNvPr id="146" name="Google Shape;146;p30"/>
          <p:cNvSpPr txBox="1">
            <a:spLocks noGrp="1"/>
          </p:cNvSpPr>
          <p:nvPr>
            <p:ph type="subTitle" idx="1"/>
          </p:nvPr>
        </p:nvSpPr>
        <p:spPr>
          <a:xfrm>
            <a:off x="423282" y="2603829"/>
            <a:ext cx="8259336" cy="7900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dirty="0"/>
              <a:t>• Set up the Seller account on Amazon for Eco-Wave and created the product listing with detailed features, images, and optimized description.</a:t>
            </a:r>
          </a:p>
        </p:txBody>
      </p:sp>
      <p:cxnSp>
        <p:nvCxnSpPr>
          <p:cNvPr id="150" name="Google Shape;150;p30"/>
          <p:cNvCxnSpPr/>
          <p:nvPr/>
        </p:nvCxnSpPr>
        <p:spPr>
          <a:xfrm>
            <a:off x="-5300" y="1075200"/>
            <a:ext cx="91821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1" name="Google Shape;151;p30"/>
          <p:cNvCxnSpPr/>
          <p:nvPr/>
        </p:nvCxnSpPr>
        <p:spPr>
          <a:xfrm>
            <a:off x="-38100" y="2301658"/>
            <a:ext cx="91821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2" name="Google Shape;152;p30"/>
          <p:cNvCxnSpPr/>
          <p:nvPr/>
        </p:nvCxnSpPr>
        <p:spPr>
          <a:xfrm>
            <a:off x="-38100" y="3593883"/>
            <a:ext cx="91821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BB9450F-1BCF-9510-9555-E389E313B79E}"/>
              </a:ext>
            </a:extLst>
          </p:cNvPr>
          <p:cNvSpPr txBox="1"/>
          <p:nvPr/>
        </p:nvSpPr>
        <p:spPr>
          <a:xfrm>
            <a:off x="2247711" y="3971375"/>
            <a:ext cx="46760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chemeClr val="tx1">
                    <a:lumMod val="40000"/>
                    <a:lumOff val="60000"/>
                  </a:schemeClr>
                </a:solidFill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Click to view</a:t>
            </a:r>
            <a:r>
              <a:rPr lang="en-IN" sz="1600" dirty="0">
                <a:solidFill>
                  <a:schemeClr val="tx1">
                    <a:lumMod val="40000"/>
                    <a:lumOff val="60000"/>
                  </a:schemeClr>
                </a:solidFill>
              </a:rPr>
              <a:t> </a:t>
            </a:r>
            <a:r>
              <a:rPr lang="en-IN" sz="1600" dirty="0">
                <a:solidFill>
                  <a:schemeClr val="bg1"/>
                </a:solidFill>
              </a:rPr>
              <a:t>the Steps to create product listing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3" name="Google Shape;283;p39"/>
          <p:cNvCxnSpPr/>
          <p:nvPr/>
        </p:nvCxnSpPr>
        <p:spPr>
          <a:xfrm>
            <a:off x="2643325" y="3511475"/>
            <a:ext cx="6533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4" name="Google Shape;284;p39"/>
          <p:cNvSpPr txBox="1">
            <a:spLocks noGrp="1"/>
          </p:cNvSpPr>
          <p:nvPr>
            <p:ph type="title"/>
          </p:nvPr>
        </p:nvSpPr>
        <p:spPr>
          <a:xfrm>
            <a:off x="6291725" y="324455"/>
            <a:ext cx="2402100" cy="141390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A</a:t>
            </a:r>
            <a:r>
              <a:rPr lang="en" dirty="0"/>
              <a:t>mazon </a:t>
            </a:r>
            <a:br>
              <a:rPr lang="en" dirty="0"/>
            </a:br>
            <a:r>
              <a:rPr lang="en" dirty="0"/>
              <a:t>Algorithm </a:t>
            </a:r>
            <a:br>
              <a:rPr lang="en" dirty="0"/>
            </a:br>
            <a:r>
              <a:rPr lang="en" dirty="0"/>
              <a:t>Knowledge </a:t>
            </a:r>
            <a:endParaRPr dirty="0"/>
          </a:p>
        </p:txBody>
      </p:sp>
      <p:sp>
        <p:nvSpPr>
          <p:cNvPr id="285" name="Google Shape;285;p39"/>
          <p:cNvSpPr txBox="1">
            <a:spLocks noGrp="1"/>
          </p:cNvSpPr>
          <p:nvPr>
            <p:ph type="subTitle" idx="1"/>
          </p:nvPr>
        </p:nvSpPr>
        <p:spPr>
          <a:xfrm>
            <a:off x="5226075" y="3687500"/>
            <a:ext cx="3761808" cy="91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dirty="0"/>
              <a:t>I understand how Amazon's system</a:t>
            </a:r>
          </a:p>
          <a:p>
            <a:pPr marL="0" lvl="0" indent="0"/>
            <a:r>
              <a:rPr lang="en-IN" dirty="0"/>
              <a:t>(the A9/A10 algorithm) works to help the </a:t>
            </a:r>
          </a:p>
          <a:p>
            <a:pPr marL="0" lvl="0" indent="0"/>
            <a:r>
              <a:rPr lang="en-IN" dirty="0"/>
              <a:t>Eco-Wave product listing get seen by </a:t>
            </a:r>
          </a:p>
          <a:p>
            <a:pPr marL="0" lvl="0" indent="0"/>
            <a:r>
              <a:rPr lang="en-IN" dirty="0"/>
              <a:t>more people and get more sales. </a:t>
            </a:r>
          </a:p>
          <a:p>
            <a:pPr marL="0" lvl="0" indent="0"/>
            <a:r>
              <a:rPr lang="en-IN" dirty="0"/>
              <a:t>Here is what I did</a:t>
            </a:r>
            <a:endParaRPr dirty="0"/>
          </a:p>
        </p:txBody>
      </p:sp>
      <p:pic>
        <p:nvPicPr>
          <p:cNvPr id="286" name="Google Shape;286;p39"/>
          <p:cNvPicPr preferRelativeResize="0">
            <a:picLocks noGrp="1"/>
          </p:cNvPicPr>
          <p:nvPr>
            <p:ph type="pic" idx="2"/>
          </p:nvPr>
        </p:nvPicPr>
        <p:blipFill>
          <a:blip r:embed="rId3">
            <a:alphaModFix/>
          </a:blip>
          <a:srcRect t="1773" b="1773"/>
          <a:stretch/>
        </p:blipFill>
        <p:spPr>
          <a:xfrm>
            <a:off x="229225" y="207075"/>
            <a:ext cx="2209623" cy="3194329"/>
          </a:xfrm>
          <a:prstGeom prst="rect">
            <a:avLst/>
          </a:prstGeom>
        </p:spPr>
      </p:pic>
      <p:pic>
        <p:nvPicPr>
          <p:cNvPr id="287" name="Google Shape;287;p39"/>
          <p:cNvPicPr preferRelativeResize="0">
            <a:picLocks noGrp="1"/>
          </p:cNvPicPr>
          <p:nvPr>
            <p:ph type="pic" idx="3"/>
          </p:nvPr>
        </p:nvPicPr>
        <p:blipFill>
          <a:blip r:embed="rId4">
            <a:alphaModFix/>
          </a:blip>
          <a:srcRect t="26727" b="26727"/>
          <a:stretch/>
        </p:blipFill>
        <p:spPr>
          <a:xfrm>
            <a:off x="229225" y="3601850"/>
            <a:ext cx="2209624" cy="1541699"/>
          </a:xfrm>
          <a:prstGeom prst="rect">
            <a:avLst/>
          </a:prstGeom>
        </p:spPr>
      </p:pic>
      <p:pic>
        <p:nvPicPr>
          <p:cNvPr id="288" name="Google Shape;288;p39"/>
          <p:cNvPicPr preferRelativeResize="0">
            <a:picLocks noGrp="1"/>
          </p:cNvPicPr>
          <p:nvPr>
            <p:ph type="pic" idx="4"/>
          </p:nvPr>
        </p:nvPicPr>
        <p:blipFill>
          <a:blip r:embed="rId5">
            <a:alphaModFix/>
          </a:blip>
          <a:srcRect l="18758" r="18758"/>
          <a:stretch/>
        </p:blipFill>
        <p:spPr>
          <a:xfrm>
            <a:off x="2607000" y="1506225"/>
            <a:ext cx="2368276" cy="2528778"/>
          </a:xfrm>
          <a:prstGeom prst="rect">
            <a:avLst/>
          </a:prstGeom>
        </p:spPr>
      </p:pic>
      <p:pic>
        <p:nvPicPr>
          <p:cNvPr id="289" name="Google Shape;289;p39"/>
          <p:cNvPicPr preferRelativeResize="0">
            <a:picLocks noGrp="1"/>
          </p:cNvPicPr>
          <p:nvPr>
            <p:ph type="pic" idx="5"/>
          </p:nvPr>
        </p:nvPicPr>
        <p:blipFill>
          <a:blip r:embed="rId6">
            <a:alphaModFix/>
          </a:blip>
          <a:srcRect t="5222" b="5222"/>
          <a:stretch/>
        </p:blipFill>
        <p:spPr>
          <a:xfrm>
            <a:off x="2607000" y="-36425"/>
            <a:ext cx="2368200" cy="1413902"/>
          </a:xfrm>
          <a:prstGeom prst="rect">
            <a:avLst/>
          </a:prstGeom>
        </p:spPr>
      </p:pic>
      <p:pic>
        <p:nvPicPr>
          <p:cNvPr id="290" name="Google Shape;290;p39"/>
          <p:cNvPicPr preferRelativeResize="0">
            <a:picLocks noGrp="1"/>
          </p:cNvPicPr>
          <p:nvPr>
            <p:ph type="pic" idx="6"/>
          </p:nvPr>
        </p:nvPicPr>
        <p:blipFill>
          <a:blip r:embed="rId7">
            <a:alphaModFix/>
          </a:blip>
          <a:srcRect t="11913" b="60505"/>
          <a:stretch>
            <a:fillRect/>
          </a:stretch>
        </p:blipFill>
        <p:spPr>
          <a:xfrm>
            <a:off x="2607000" y="4163750"/>
            <a:ext cx="2368200" cy="979800"/>
          </a:xfrm>
          <a:prstGeom prst="rect">
            <a:avLst/>
          </a:prstGeom>
        </p:spPr>
      </p:pic>
      <p:sp>
        <p:nvSpPr>
          <p:cNvPr id="8" name="Google Shape;142;p30">
            <a:extLst>
              <a:ext uri="{FF2B5EF4-FFF2-40B4-BE49-F238E27FC236}">
                <a16:creationId xmlns:a16="http://schemas.microsoft.com/office/drawing/2014/main" id="{1A536971-A116-39B7-3369-3CCFFC8EDB19}"/>
              </a:ext>
            </a:extLst>
          </p:cNvPr>
          <p:cNvSpPr txBox="1">
            <a:spLocks/>
          </p:cNvSpPr>
          <p:nvPr/>
        </p:nvSpPr>
        <p:spPr>
          <a:xfrm>
            <a:off x="5150786" y="539500"/>
            <a:ext cx="1732156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l" rtl="0">
              <a:buClrTx/>
              <a:buFontTx/>
            </a:pPr>
            <a:r>
              <a:rPr lang="en-IN" sz="4400" dirty="0">
                <a:solidFill>
                  <a:schemeClr val="tx1"/>
                </a:solidFill>
                <a:latin typeface="Carattere" panose="020B0604020202020204" charset="0"/>
              </a:rPr>
              <a:t>Task 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5"/>
          <p:cNvSpPr txBox="1">
            <a:spLocks noGrp="1"/>
          </p:cNvSpPr>
          <p:nvPr>
            <p:ph type="title"/>
          </p:nvPr>
        </p:nvSpPr>
        <p:spPr>
          <a:xfrm>
            <a:off x="327675" y="2531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dirty="0"/>
              <a:t>Algorithm Knowledge</a:t>
            </a:r>
            <a:endParaRPr dirty="0"/>
          </a:p>
        </p:txBody>
      </p:sp>
      <p:sp>
        <p:nvSpPr>
          <p:cNvPr id="194" name="Google Shape;194;p35"/>
          <p:cNvSpPr txBox="1">
            <a:spLocks noGrp="1"/>
          </p:cNvSpPr>
          <p:nvPr>
            <p:ph type="subTitle" idx="4"/>
          </p:nvPr>
        </p:nvSpPr>
        <p:spPr>
          <a:xfrm>
            <a:off x="1293325" y="1248700"/>
            <a:ext cx="2703600" cy="70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</a:rPr>
              <a:t>Keyword optimization 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95" name="Google Shape;195;p35"/>
          <p:cNvSpPr txBox="1">
            <a:spLocks noGrp="1"/>
          </p:cNvSpPr>
          <p:nvPr>
            <p:ph type="subTitle" idx="5"/>
          </p:nvPr>
        </p:nvSpPr>
        <p:spPr>
          <a:xfrm>
            <a:off x="1293495" y="2334300"/>
            <a:ext cx="2703600" cy="70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</a:rPr>
              <a:t>Enhance Product Listing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96" name="Google Shape;196;p35"/>
          <p:cNvSpPr txBox="1">
            <a:spLocks noGrp="1"/>
          </p:cNvSpPr>
          <p:nvPr>
            <p:ph type="subTitle" idx="1"/>
          </p:nvPr>
        </p:nvSpPr>
        <p:spPr>
          <a:xfrm>
            <a:off x="3996925" y="1102300"/>
            <a:ext cx="4434000" cy="100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IN" dirty="0">
                <a:solidFill>
                  <a:schemeClr val="tx1"/>
                </a:solidFill>
              </a:rPr>
              <a:t>Added popular keywords to the title, description, and search tags so the product shows up higher in search results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97" name="Google Shape;197;p35"/>
          <p:cNvSpPr txBox="1">
            <a:spLocks noGrp="1"/>
          </p:cNvSpPr>
          <p:nvPr>
            <p:ph type="subTitle" idx="2"/>
          </p:nvPr>
        </p:nvSpPr>
        <p:spPr>
          <a:xfrm>
            <a:off x="3996925" y="2187975"/>
            <a:ext cx="4434000" cy="100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IN" dirty="0">
                <a:solidFill>
                  <a:schemeClr val="tx1"/>
                </a:solidFill>
              </a:rPr>
              <a:t>A catchy title and clear bullet points highlighting key features (like eco-friendly, durable, and stylish) to convince people to buy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98" name="Google Shape;198;p35"/>
          <p:cNvSpPr txBox="1">
            <a:spLocks noGrp="1"/>
          </p:cNvSpPr>
          <p:nvPr>
            <p:ph type="subTitle" idx="3"/>
          </p:nvPr>
        </p:nvSpPr>
        <p:spPr>
          <a:xfrm>
            <a:off x="3996925" y="3419900"/>
            <a:ext cx="4434000" cy="103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IN" dirty="0"/>
              <a:t>Used high-quality images and graphics to get more clicks and keep buyers interested</a:t>
            </a:r>
            <a:endParaRPr dirty="0"/>
          </a:p>
        </p:txBody>
      </p:sp>
      <p:sp>
        <p:nvSpPr>
          <p:cNvPr id="199" name="Google Shape;199;p35"/>
          <p:cNvSpPr txBox="1">
            <a:spLocks noGrp="1"/>
          </p:cNvSpPr>
          <p:nvPr>
            <p:ph type="subTitle" idx="6"/>
          </p:nvPr>
        </p:nvSpPr>
        <p:spPr>
          <a:xfrm>
            <a:off x="1293495" y="3585500"/>
            <a:ext cx="27036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solidFill>
                  <a:schemeClr val="tx1"/>
                </a:solidFill>
              </a:rPr>
              <a:t>V</a:t>
            </a:r>
            <a:r>
              <a:rPr lang="en" dirty="0">
                <a:solidFill>
                  <a:schemeClr val="tx1"/>
                </a:solidFill>
              </a:rPr>
              <a:t>isual content </a:t>
            </a:r>
            <a:endParaRPr dirty="0">
              <a:solidFill>
                <a:schemeClr val="tx1"/>
              </a:solidFill>
            </a:endParaRPr>
          </a:p>
        </p:txBody>
      </p:sp>
      <p:cxnSp>
        <p:nvCxnSpPr>
          <p:cNvPr id="200" name="Google Shape;200;p35"/>
          <p:cNvCxnSpPr/>
          <p:nvPr/>
        </p:nvCxnSpPr>
        <p:spPr>
          <a:xfrm>
            <a:off x="-5300" y="835350"/>
            <a:ext cx="9182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1" name="Google Shape;201;p35"/>
          <p:cNvCxnSpPr/>
          <p:nvPr/>
        </p:nvCxnSpPr>
        <p:spPr>
          <a:xfrm>
            <a:off x="-5300" y="2145875"/>
            <a:ext cx="9182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2" name="Google Shape;202;p35"/>
          <p:cNvCxnSpPr/>
          <p:nvPr/>
        </p:nvCxnSpPr>
        <p:spPr>
          <a:xfrm>
            <a:off x="-5300" y="3289850"/>
            <a:ext cx="9182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3" name="Google Shape;203;p35"/>
          <p:cNvSpPr txBox="1"/>
          <p:nvPr/>
        </p:nvSpPr>
        <p:spPr>
          <a:xfrm>
            <a:off x="526900" y="1379058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chemeClr val="dk2"/>
                </a:solidFill>
                <a:latin typeface="Carattere"/>
                <a:ea typeface="Carattere"/>
                <a:cs typeface="Carattere"/>
                <a:sym typeface="Carattere"/>
              </a:rPr>
              <a:t>01</a:t>
            </a:r>
            <a:endParaRPr sz="4400">
              <a:solidFill>
                <a:schemeClr val="dk2"/>
              </a:solidFill>
              <a:latin typeface="Carattere"/>
              <a:ea typeface="Carattere"/>
              <a:cs typeface="Carattere"/>
              <a:sym typeface="Carattere"/>
            </a:endParaRPr>
          </a:p>
        </p:txBody>
      </p:sp>
      <p:sp>
        <p:nvSpPr>
          <p:cNvPr id="204" name="Google Shape;204;p35"/>
          <p:cNvSpPr txBox="1"/>
          <p:nvPr/>
        </p:nvSpPr>
        <p:spPr>
          <a:xfrm>
            <a:off x="526900" y="2494071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chemeClr val="dk2"/>
                </a:solidFill>
                <a:latin typeface="Carattere"/>
                <a:ea typeface="Carattere"/>
                <a:cs typeface="Carattere"/>
                <a:sym typeface="Carattere"/>
              </a:rPr>
              <a:t>02</a:t>
            </a:r>
            <a:endParaRPr sz="4400">
              <a:solidFill>
                <a:schemeClr val="dk2"/>
              </a:solidFill>
              <a:latin typeface="Carattere"/>
              <a:ea typeface="Carattere"/>
              <a:cs typeface="Carattere"/>
              <a:sym typeface="Carattere"/>
            </a:endParaRPr>
          </a:p>
        </p:txBody>
      </p:sp>
      <p:sp>
        <p:nvSpPr>
          <p:cNvPr id="205" name="Google Shape;205;p35"/>
          <p:cNvSpPr txBox="1"/>
          <p:nvPr/>
        </p:nvSpPr>
        <p:spPr>
          <a:xfrm>
            <a:off x="526900" y="3609083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chemeClr val="dk2"/>
                </a:solidFill>
                <a:latin typeface="Carattere"/>
                <a:ea typeface="Carattere"/>
                <a:cs typeface="Carattere"/>
                <a:sym typeface="Carattere"/>
              </a:rPr>
              <a:t>03</a:t>
            </a:r>
            <a:endParaRPr sz="4400">
              <a:solidFill>
                <a:schemeClr val="dk2"/>
              </a:solidFill>
              <a:latin typeface="Carattere"/>
              <a:ea typeface="Carattere"/>
              <a:cs typeface="Carattere"/>
              <a:sym typeface="Caratter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>
          <a:extLst>
            <a:ext uri="{FF2B5EF4-FFF2-40B4-BE49-F238E27FC236}">
              <a16:creationId xmlns:a16="http://schemas.microsoft.com/office/drawing/2014/main" id="{F1110ABA-0AFE-F475-05A3-5A58A7792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5">
            <a:extLst>
              <a:ext uri="{FF2B5EF4-FFF2-40B4-BE49-F238E27FC236}">
                <a16:creationId xmlns:a16="http://schemas.microsoft.com/office/drawing/2014/main" id="{D6D85265-E0A2-0DE3-2960-D80A6E33AF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7675" y="2531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dirty="0"/>
              <a:t>Algorithm Knowledge</a:t>
            </a:r>
            <a:endParaRPr dirty="0"/>
          </a:p>
        </p:txBody>
      </p:sp>
      <p:sp>
        <p:nvSpPr>
          <p:cNvPr id="194" name="Google Shape;194;p35">
            <a:extLst>
              <a:ext uri="{FF2B5EF4-FFF2-40B4-BE49-F238E27FC236}">
                <a16:creationId xmlns:a16="http://schemas.microsoft.com/office/drawing/2014/main" id="{1A998E51-6F9C-8C63-F91C-0BC0EFED6454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1293325" y="1248700"/>
            <a:ext cx="2703600" cy="70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</a:rPr>
              <a:t>Customer Engagement 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95" name="Google Shape;195;p35">
            <a:extLst>
              <a:ext uri="{FF2B5EF4-FFF2-40B4-BE49-F238E27FC236}">
                <a16:creationId xmlns:a16="http://schemas.microsoft.com/office/drawing/2014/main" id="{7C2C0749-425F-3B84-8025-4B035FDB6E60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1293495" y="2334300"/>
            <a:ext cx="2703600" cy="70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</a:rPr>
              <a:t>Advertising &amp; PPC  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96" name="Google Shape;196;p35">
            <a:extLst>
              <a:ext uri="{FF2B5EF4-FFF2-40B4-BE49-F238E27FC236}">
                <a16:creationId xmlns:a16="http://schemas.microsoft.com/office/drawing/2014/main" id="{62AFD8A4-C5B4-BF09-93D1-C2E0ABC9F5A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996925" y="1102300"/>
            <a:ext cx="4434000" cy="100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IN" dirty="0"/>
              <a:t>Make plans to get more customer reviews and ratings. This helps build trust and improves how high the product shows up in searches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97" name="Google Shape;197;p35">
            <a:extLst>
              <a:ext uri="{FF2B5EF4-FFF2-40B4-BE49-F238E27FC236}">
                <a16:creationId xmlns:a16="http://schemas.microsoft.com/office/drawing/2014/main" id="{177CCEA9-B3B8-7B60-BAA5-43F1C396D5B2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996925" y="2187975"/>
            <a:ext cx="4434000" cy="100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IN" dirty="0"/>
              <a:t>Created Sponsored Product to bring more shoppers to the page and speed up sales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98" name="Google Shape;198;p35">
            <a:extLst>
              <a:ext uri="{FF2B5EF4-FFF2-40B4-BE49-F238E27FC236}">
                <a16:creationId xmlns:a16="http://schemas.microsoft.com/office/drawing/2014/main" id="{F2F07962-9082-75B6-EF4E-CA8A8DEBE6C3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3996925" y="3419900"/>
            <a:ext cx="4434000" cy="103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IN" dirty="0"/>
              <a:t>Chose smart prices and gave out discounts or coupons to get more people to buy and meet Amazon's goals</a:t>
            </a:r>
            <a:endParaRPr dirty="0"/>
          </a:p>
        </p:txBody>
      </p:sp>
      <p:sp>
        <p:nvSpPr>
          <p:cNvPr id="199" name="Google Shape;199;p35">
            <a:extLst>
              <a:ext uri="{FF2B5EF4-FFF2-40B4-BE49-F238E27FC236}">
                <a16:creationId xmlns:a16="http://schemas.microsoft.com/office/drawing/2014/main" id="{F34320EF-8048-CD44-0DC7-54600D64E2AC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1293495" y="3585500"/>
            <a:ext cx="27036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</a:rPr>
              <a:t>Competitive Pricing &amp; Offers </a:t>
            </a:r>
            <a:endParaRPr dirty="0">
              <a:solidFill>
                <a:schemeClr val="tx1"/>
              </a:solidFill>
            </a:endParaRPr>
          </a:p>
        </p:txBody>
      </p:sp>
      <p:cxnSp>
        <p:nvCxnSpPr>
          <p:cNvPr id="200" name="Google Shape;200;p35">
            <a:extLst>
              <a:ext uri="{FF2B5EF4-FFF2-40B4-BE49-F238E27FC236}">
                <a16:creationId xmlns:a16="http://schemas.microsoft.com/office/drawing/2014/main" id="{4CB6A98B-C948-561E-CD2A-ED5ECB55D0EA}"/>
              </a:ext>
            </a:extLst>
          </p:cNvPr>
          <p:cNvCxnSpPr/>
          <p:nvPr/>
        </p:nvCxnSpPr>
        <p:spPr>
          <a:xfrm>
            <a:off x="-5300" y="835350"/>
            <a:ext cx="9182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1" name="Google Shape;201;p35">
            <a:extLst>
              <a:ext uri="{FF2B5EF4-FFF2-40B4-BE49-F238E27FC236}">
                <a16:creationId xmlns:a16="http://schemas.microsoft.com/office/drawing/2014/main" id="{EDD16FAE-2B06-787D-D7D1-90CBBB111DF4}"/>
              </a:ext>
            </a:extLst>
          </p:cNvPr>
          <p:cNvCxnSpPr/>
          <p:nvPr/>
        </p:nvCxnSpPr>
        <p:spPr>
          <a:xfrm>
            <a:off x="-5300" y="2145875"/>
            <a:ext cx="9182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2" name="Google Shape;202;p35">
            <a:extLst>
              <a:ext uri="{FF2B5EF4-FFF2-40B4-BE49-F238E27FC236}">
                <a16:creationId xmlns:a16="http://schemas.microsoft.com/office/drawing/2014/main" id="{92E820D7-3E19-EF8E-CA60-501B3DB7C62C}"/>
              </a:ext>
            </a:extLst>
          </p:cNvPr>
          <p:cNvCxnSpPr/>
          <p:nvPr/>
        </p:nvCxnSpPr>
        <p:spPr>
          <a:xfrm>
            <a:off x="-5300" y="3289850"/>
            <a:ext cx="9182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3" name="Google Shape;203;p35">
            <a:extLst>
              <a:ext uri="{FF2B5EF4-FFF2-40B4-BE49-F238E27FC236}">
                <a16:creationId xmlns:a16="http://schemas.microsoft.com/office/drawing/2014/main" id="{94E08F8B-A977-3193-88BD-9BD478ABC3C0}"/>
              </a:ext>
            </a:extLst>
          </p:cNvPr>
          <p:cNvSpPr txBox="1"/>
          <p:nvPr/>
        </p:nvSpPr>
        <p:spPr>
          <a:xfrm>
            <a:off x="526900" y="1379058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>
                <a:solidFill>
                  <a:schemeClr val="dk2"/>
                </a:solidFill>
                <a:latin typeface="Carattere"/>
                <a:ea typeface="Carattere"/>
                <a:cs typeface="Carattere"/>
                <a:sym typeface="Carattere"/>
              </a:rPr>
              <a:t>04</a:t>
            </a:r>
            <a:endParaRPr sz="4400" dirty="0">
              <a:solidFill>
                <a:schemeClr val="dk2"/>
              </a:solidFill>
              <a:latin typeface="Carattere"/>
              <a:ea typeface="Carattere"/>
              <a:cs typeface="Carattere"/>
              <a:sym typeface="Carattere"/>
            </a:endParaRPr>
          </a:p>
        </p:txBody>
      </p:sp>
      <p:sp>
        <p:nvSpPr>
          <p:cNvPr id="204" name="Google Shape;204;p35">
            <a:extLst>
              <a:ext uri="{FF2B5EF4-FFF2-40B4-BE49-F238E27FC236}">
                <a16:creationId xmlns:a16="http://schemas.microsoft.com/office/drawing/2014/main" id="{4C77178E-1A74-4CF2-9598-8D2349C39EB1}"/>
              </a:ext>
            </a:extLst>
          </p:cNvPr>
          <p:cNvSpPr txBox="1"/>
          <p:nvPr/>
        </p:nvSpPr>
        <p:spPr>
          <a:xfrm>
            <a:off x="526900" y="2494071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>
                <a:solidFill>
                  <a:schemeClr val="dk2"/>
                </a:solidFill>
                <a:latin typeface="Carattere"/>
                <a:ea typeface="Carattere"/>
                <a:cs typeface="Carattere"/>
                <a:sym typeface="Carattere"/>
              </a:rPr>
              <a:t>05</a:t>
            </a:r>
            <a:endParaRPr sz="4400" dirty="0">
              <a:solidFill>
                <a:schemeClr val="dk2"/>
              </a:solidFill>
              <a:latin typeface="Carattere"/>
              <a:ea typeface="Carattere"/>
              <a:cs typeface="Carattere"/>
              <a:sym typeface="Carattere"/>
            </a:endParaRPr>
          </a:p>
        </p:txBody>
      </p:sp>
      <p:sp>
        <p:nvSpPr>
          <p:cNvPr id="205" name="Google Shape;205;p35">
            <a:extLst>
              <a:ext uri="{FF2B5EF4-FFF2-40B4-BE49-F238E27FC236}">
                <a16:creationId xmlns:a16="http://schemas.microsoft.com/office/drawing/2014/main" id="{C8204D95-BD29-6125-31AC-713E8CE61407}"/>
              </a:ext>
            </a:extLst>
          </p:cNvPr>
          <p:cNvSpPr txBox="1"/>
          <p:nvPr/>
        </p:nvSpPr>
        <p:spPr>
          <a:xfrm>
            <a:off x="526900" y="3609083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>
                <a:solidFill>
                  <a:schemeClr val="dk2"/>
                </a:solidFill>
                <a:latin typeface="Carattere"/>
                <a:ea typeface="Carattere"/>
                <a:cs typeface="Carattere"/>
                <a:sym typeface="Carattere"/>
              </a:rPr>
              <a:t>06</a:t>
            </a:r>
            <a:endParaRPr sz="4400" dirty="0">
              <a:solidFill>
                <a:schemeClr val="dk2"/>
              </a:solidFill>
              <a:latin typeface="Carattere"/>
              <a:ea typeface="Carattere"/>
              <a:cs typeface="Carattere"/>
              <a:sym typeface="Carattere"/>
            </a:endParaRPr>
          </a:p>
        </p:txBody>
      </p:sp>
      <p:sp>
        <p:nvSpPr>
          <p:cNvPr id="2" name="Google Shape;285;p39">
            <a:extLst>
              <a:ext uri="{FF2B5EF4-FFF2-40B4-BE49-F238E27FC236}">
                <a16:creationId xmlns:a16="http://schemas.microsoft.com/office/drawing/2014/main" id="{2D636C43-F7A8-3FD1-0E2B-26B91A77B6CB}"/>
              </a:ext>
            </a:extLst>
          </p:cNvPr>
          <p:cNvSpPr txBox="1">
            <a:spLocks/>
          </p:cNvSpPr>
          <p:nvPr/>
        </p:nvSpPr>
        <p:spPr>
          <a:xfrm>
            <a:off x="627067" y="4328749"/>
            <a:ext cx="7917365" cy="629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/>
            <a:r>
              <a:rPr lang="en-IN" dirty="0"/>
              <a:t>Doing these things helps the Eco-Wave product pages look better in search results, bring in more buyers, and boost sales on Amazon.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9918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4"/>
          <p:cNvSpPr txBox="1">
            <a:spLocks noGrp="1"/>
          </p:cNvSpPr>
          <p:nvPr>
            <p:ph type="subTitle" idx="4"/>
          </p:nvPr>
        </p:nvSpPr>
        <p:spPr>
          <a:xfrm>
            <a:off x="5230277" y="1659200"/>
            <a:ext cx="2682300" cy="78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C</a:t>
            </a:r>
            <a:r>
              <a:rPr lang="en" dirty="0"/>
              <a:t>ompelling Content</a:t>
            </a:r>
            <a:endParaRPr dirty="0"/>
          </a:p>
        </p:txBody>
      </p:sp>
      <p:sp>
        <p:nvSpPr>
          <p:cNvPr id="183" name="Google Shape;183;p34"/>
          <p:cNvSpPr txBox="1">
            <a:spLocks noGrp="1"/>
          </p:cNvSpPr>
          <p:nvPr>
            <p:ph type="title"/>
          </p:nvPr>
        </p:nvSpPr>
        <p:spPr>
          <a:xfrm>
            <a:off x="327675" y="2626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Implement SEO techniques </a:t>
            </a:r>
            <a:endParaRPr dirty="0"/>
          </a:p>
        </p:txBody>
      </p:sp>
      <p:sp>
        <p:nvSpPr>
          <p:cNvPr id="184" name="Google Shape;184;p34"/>
          <p:cNvSpPr txBox="1">
            <a:spLocks noGrp="1"/>
          </p:cNvSpPr>
          <p:nvPr>
            <p:ph type="subTitle" idx="1"/>
          </p:nvPr>
        </p:nvSpPr>
        <p:spPr>
          <a:xfrm>
            <a:off x="5230276" y="2574147"/>
            <a:ext cx="2682300" cy="17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dirty="0"/>
              <a:t>Created benefit-driven bullets &amp; storytelling description with SEO keywords and customer reviews also helps with SEO</a:t>
            </a:r>
            <a:endParaRPr dirty="0"/>
          </a:p>
        </p:txBody>
      </p:sp>
      <p:sp>
        <p:nvSpPr>
          <p:cNvPr id="185" name="Google Shape;185;p34"/>
          <p:cNvSpPr txBox="1">
            <a:spLocks noGrp="1"/>
          </p:cNvSpPr>
          <p:nvPr>
            <p:ph type="subTitle" idx="2"/>
          </p:nvPr>
        </p:nvSpPr>
        <p:spPr>
          <a:xfrm>
            <a:off x="995800" y="2574147"/>
            <a:ext cx="2682300" cy="17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dirty="0"/>
              <a:t>Added high-volume keywords (</a:t>
            </a:r>
            <a:r>
              <a:rPr lang="en-IN" i="1" dirty="0"/>
              <a:t>insulated stainless steel bottle, eco-friendly reusable bottle, leak-proof gym flask</a:t>
            </a:r>
            <a:r>
              <a:rPr lang="en-IN" dirty="0"/>
              <a:t>) in title, bullets, description, and backend</a:t>
            </a:r>
            <a:endParaRPr dirty="0"/>
          </a:p>
        </p:txBody>
      </p:sp>
      <p:sp>
        <p:nvSpPr>
          <p:cNvPr id="186" name="Google Shape;186;p34"/>
          <p:cNvSpPr txBox="1">
            <a:spLocks noGrp="1"/>
          </p:cNvSpPr>
          <p:nvPr>
            <p:ph type="subTitle" idx="3"/>
          </p:nvPr>
        </p:nvSpPr>
        <p:spPr>
          <a:xfrm>
            <a:off x="995800" y="1659200"/>
            <a:ext cx="2682300" cy="78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K</a:t>
            </a:r>
            <a:r>
              <a:rPr lang="en" dirty="0"/>
              <a:t>eywords Optimization </a:t>
            </a:r>
            <a:endParaRPr dirty="0"/>
          </a:p>
        </p:txBody>
      </p:sp>
      <p:cxnSp>
        <p:nvCxnSpPr>
          <p:cNvPr id="187" name="Google Shape;187;p34"/>
          <p:cNvCxnSpPr/>
          <p:nvPr/>
        </p:nvCxnSpPr>
        <p:spPr>
          <a:xfrm>
            <a:off x="-5300" y="835350"/>
            <a:ext cx="9182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8" name="Google Shape;188;p34"/>
          <p:cNvCxnSpPr/>
          <p:nvPr/>
        </p:nvCxnSpPr>
        <p:spPr>
          <a:xfrm>
            <a:off x="-5300" y="2467050"/>
            <a:ext cx="9182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142;p30">
            <a:extLst>
              <a:ext uri="{FF2B5EF4-FFF2-40B4-BE49-F238E27FC236}">
                <a16:creationId xmlns:a16="http://schemas.microsoft.com/office/drawing/2014/main" id="{37020FF5-E444-1A41-EAE1-5FCCB4EC2935}"/>
              </a:ext>
            </a:extLst>
          </p:cNvPr>
          <p:cNvSpPr txBox="1">
            <a:spLocks/>
          </p:cNvSpPr>
          <p:nvPr/>
        </p:nvSpPr>
        <p:spPr>
          <a:xfrm>
            <a:off x="3678100" y="1232154"/>
            <a:ext cx="1732156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l" rtl="0">
              <a:buClrTx/>
              <a:buFontTx/>
            </a:pPr>
            <a:r>
              <a:rPr lang="en-IN" sz="4400" dirty="0">
                <a:solidFill>
                  <a:schemeClr val="tx1"/>
                </a:solidFill>
                <a:latin typeface="Carattere" panose="020B0604020202020204" charset="0"/>
              </a:rPr>
              <a:t>Task 3</a:t>
            </a:r>
          </a:p>
        </p:txBody>
      </p:sp>
      <p:sp>
        <p:nvSpPr>
          <p:cNvPr id="5" name="Google Shape;285;p39">
            <a:extLst>
              <a:ext uri="{FF2B5EF4-FFF2-40B4-BE49-F238E27FC236}">
                <a16:creationId xmlns:a16="http://schemas.microsoft.com/office/drawing/2014/main" id="{74EF761C-271F-64D3-8242-CB45B77EE433}"/>
              </a:ext>
            </a:extLst>
          </p:cNvPr>
          <p:cNvSpPr txBox="1">
            <a:spLocks/>
          </p:cNvSpPr>
          <p:nvPr/>
        </p:nvSpPr>
        <p:spPr>
          <a:xfrm>
            <a:off x="613317" y="4122213"/>
            <a:ext cx="7917365" cy="629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 algn="ctr"/>
            <a:r>
              <a:rPr lang="en-US" sz="1600" dirty="0"/>
              <a:t>This makes eco-wave bottle more searchable, visible and conversion-friendly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7"/>
          <p:cNvSpPr txBox="1">
            <a:spLocks noGrp="1"/>
          </p:cNvSpPr>
          <p:nvPr>
            <p:ph type="title" idx="2"/>
          </p:nvPr>
        </p:nvSpPr>
        <p:spPr>
          <a:xfrm>
            <a:off x="3230264" y="3498513"/>
            <a:ext cx="4545852" cy="76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sz="1600" dirty="0">
                <a:solidFill>
                  <a:schemeClr val="tx1">
                    <a:lumMod val="40000"/>
                    <a:lumOff val="60000"/>
                  </a:schemeClr>
                </a:solidFill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Click to view</a:t>
            </a:r>
            <a:r>
              <a:rPr lang="en-IN" sz="1600" dirty="0">
                <a:solidFill>
                  <a:schemeClr val="tx1">
                    <a:lumMod val="40000"/>
                    <a:lumOff val="60000"/>
                  </a:schemeClr>
                </a:solidFill>
              </a:rPr>
              <a:t> </a:t>
            </a:r>
            <a:r>
              <a:rPr lang="en-IN" sz="1600" dirty="0">
                <a:solidFill>
                  <a:schemeClr val="bg1"/>
                </a:solidFill>
              </a:rPr>
              <a:t>the amazon PPC Ad Campaign set up</a:t>
            </a:r>
            <a:endParaRPr sz="1600" dirty="0">
              <a:solidFill>
                <a:schemeClr val="bg1"/>
              </a:solidFill>
            </a:endParaRPr>
          </a:p>
        </p:txBody>
      </p:sp>
      <p:sp>
        <p:nvSpPr>
          <p:cNvPr id="235" name="Google Shape;235;p37"/>
          <p:cNvSpPr txBox="1">
            <a:spLocks noGrp="1"/>
          </p:cNvSpPr>
          <p:nvPr>
            <p:ph type="title" idx="6"/>
          </p:nvPr>
        </p:nvSpPr>
        <p:spPr>
          <a:xfrm>
            <a:off x="847493" y="900313"/>
            <a:ext cx="5117832" cy="107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solidFill>
                  <a:schemeClr val="bg1"/>
                </a:solidFill>
              </a:rPr>
              <a:t>P</a:t>
            </a:r>
            <a:r>
              <a:rPr lang="en" dirty="0">
                <a:solidFill>
                  <a:schemeClr val="bg1"/>
                </a:solidFill>
              </a:rPr>
              <a:t>PC Ads 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36" name="Google Shape;236;p37"/>
          <p:cNvSpPr txBox="1">
            <a:spLocks noGrp="1"/>
          </p:cNvSpPr>
          <p:nvPr>
            <p:ph type="subTitle" idx="7"/>
          </p:nvPr>
        </p:nvSpPr>
        <p:spPr>
          <a:xfrm>
            <a:off x="604214" y="1870864"/>
            <a:ext cx="52521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>
                <a:solidFill>
                  <a:schemeClr val="bg1"/>
                </a:solidFill>
              </a:rPr>
              <a:t>S</a:t>
            </a:r>
            <a:r>
              <a:rPr lang="en" sz="2000" dirty="0">
                <a:solidFill>
                  <a:schemeClr val="bg1"/>
                </a:solidFill>
              </a:rPr>
              <a:t>etup amazon ad campaign </a:t>
            </a:r>
            <a:endParaRPr sz="2000" dirty="0">
              <a:solidFill>
                <a:schemeClr val="bg1"/>
              </a:solidFill>
            </a:endParaRPr>
          </a:p>
        </p:txBody>
      </p:sp>
      <p:cxnSp>
        <p:nvCxnSpPr>
          <p:cNvPr id="237" name="Google Shape;237;p37"/>
          <p:cNvCxnSpPr/>
          <p:nvPr/>
        </p:nvCxnSpPr>
        <p:spPr>
          <a:xfrm>
            <a:off x="-5300" y="2859300"/>
            <a:ext cx="91821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38" name="Google Shape;238;p37"/>
          <p:cNvPicPr preferRelativeResize="0">
            <a:picLocks noGrp="1"/>
          </p:cNvPicPr>
          <p:nvPr>
            <p:ph type="pic" idx="2"/>
          </p:nvPr>
        </p:nvPicPr>
        <p:blipFill>
          <a:blip r:embed="rId4">
            <a:alphaModFix/>
          </a:blip>
          <a:srcRect t="502" b="502"/>
          <a:stretch/>
        </p:blipFill>
        <p:spPr>
          <a:xfrm>
            <a:off x="4646342" y="0"/>
            <a:ext cx="4497660" cy="285929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42;p30">
            <a:extLst>
              <a:ext uri="{FF2B5EF4-FFF2-40B4-BE49-F238E27FC236}">
                <a16:creationId xmlns:a16="http://schemas.microsoft.com/office/drawing/2014/main" id="{0EC1131C-DE00-115F-B26D-F120DD27AFDE}"/>
              </a:ext>
            </a:extLst>
          </p:cNvPr>
          <p:cNvSpPr txBox="1">
            <a:spLocks/>
          </p:cNvSpPr>
          <p:nvPr/>
        </p:nvSpPr>
        <p:spPr>
          <a:xfrm>
            <a:off x="1498108" y="3745188"/>
            <a:ext cx="1732156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l" rtl="0">
              <a:buClrTx/>
              <a:buFontTx/>
            </a:pPr>
            <a:r>
              <a:rPr lang="en-IN" sz="4400" dirty="0">
                <a:solidFill>
                  <a:schemeClr val="bg1"/>
                </a:solidFill>
                <a:latin typeface="Carattere" panose="020B0604020202020204" charset="0"/>
              </a:rPr>
              <a:t>Task 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>
          <a:extLst>
            <a:ext uri="{FF2B5EF4-FFF2-40B4-BE49-F238E27FC236}">
              <a16:creationId xmlns:a16="http://schemas.microsoft.com/office/drawing/2014/main" id="{62D00BAF-9393-2B4F-B288-BF865C19D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0">
            <a:extLst>
              <a:ext uri="{FF2B5EF4-FFF2-40B4-BE49-F238E27FC236}">
                <a16:creationId xmlns:a16="http://schemas.microsoft.com/office/drawing/2014/main" id="{5A141EB4-1CFE-F3E2-B6A0-99AC1B9EB7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776" y="251175"/>
            <a:ext cx="906222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dirty="0"/>
              <a:t>B</a:t>
            </a:r>
            <a:r>
              <a:rPr lang="en" dirty="0"/>
              <a:t>idding Strategies</a:t>
            </a:r>
            <a:endParaRPr dirty="0"/>
          </a:p>
        </p:txBody>
      </p:sp>
      <p:sp>
        <p:nvSpPr>
          <p:cNvPr id="142" name="Google Shape;142;p30">
            <a:extLst>
              <a:ext uri="{FF2B5EF4-FFF2-40B4-BE49-F238E27FC236}">
                <a16:creationId xmlns:a16="http://schemas.microsoft.com/office/drawing/2014/main" id="{835387CC-DE30-DDAE-5511-B6B1D950AB98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88700" y="889424"/>
            <a:ext cx="2531999" cy="63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</a:t>
            </a:r>
            <a:r>
              <a:rPr lang="en" sz="20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ynamic bidding  </a:t>
            </a:r>
            <a:endParaRPr sz="20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6" name="Google Shape;146;p30">
            <a:extLst>
              <a:ext uri="{FF2B5EF4-FFF2-40B4-BE49-F238E27FC236}">
                <a16:creationId xmlns:a16="http://schemas.microsoft.com/office/drawing/2014/main" id="{67891E72-507A-1586-6399-A59E9AC3C3D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49073" y="1580897"/>
            <a:ext cx="8542166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dirty="0"/>
              <a:t>This setting allows Amazon to automatically raise your ad bids when a shopper is highly likely to buy your product. This happens during busy shopping periods like mornings, travel seasons etc.</a:t>
            </a:r>
            <a:endParaRPr dirty="0"/>
          </a:p>
        </p:txBody>
      </p:sp>
      <p:sp>
        <p:nvSpPr>
          <p:cNvPr id="148" name="Google Shape;148;p30">
            <a:extLst>
              <a:ext uri="{FF2B5EF4-FFF2-40B4-BE49-F238E27FC236}">
                <a16:creationId xmlns:a16="http://schemas.microsoft.com/office/drawing/2014/main" id="{3061FF4C-0E65-87F4-6CEA-7D2568D6EE7C}"/>
              </a:ext>
            </a:extLst>
          </p:cNvPr>
          <p:cNvSpPr txBox="1">
            <a:spLocks noGrp="1"/>
          </p:cNvSpPr>
          <p:nvPr>
            <p:ph type="subTitle" idx="7"/>
          </p:nvPr>
        </p:nvSpPr>
        <p:spPr>
          <a:xfrm>
            <a:off x="349073" y="3468024"/>
            <a:ext cx="8163025" cy="149798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dirty="0"/>
              <a:t>Top of the First Page: The bid is increased by 50% to secure spots at the very top of search results. This is the best way to make the product visible and get more sales.</a:t>
            </a:r>
          </a:p>
          <a:p>
            <a:pPr marL="0" lvl="0" indent="0"/>
            <a:endParaRPr lang="en-IN" dirty="0"/>
          </a:p>
          <a:p>
            <a:pPr marL="0" lvl="0" indent="0"/>
            <a:r>
              <a:rPr lang="en-US" dirty="0"/>
              <a:t>Product page: </a:t>
            </a:r>
            <a:r>
              <a:rPr lang="en-IN" dirty="0"/>
              <a:t>The bid is increased by 20% to show ads directly on other product pages. This is a great way to target shoppers who are already looking at rival brands </a:t>
            </a:r>
            <a:endParaRPr dirty="0"/>
          </a:p>
        </p:txBody>
      </p:sp>
      <p:cxnSp>
        <p:nvCxnSpPr>
          <p:cNvPr id="150" name="Google Shape;150;p30">
            <a:extLst>
              <a:ext uri="{FF2B5EF4-FFF2-40B4-BE49-F238E27FC236}">
                <a16:creationId xmlns:a16="http://schemas.microsoft.com/office/drawing/2014/main" id="{FA7D8083-886D-EB64-AC3C-F75FCA571C4C}"/>
              </a:ext>
            </a:extLst>
          </p:cNvPr>
          <p:cNvCxnSpPr/>
          <p:nvPr/>
        </p:nvCxnSpPr>
        <p:spPr>
          <a:xfrm>
            <a:off x="-38100" y="881912"/>
            <a:ext cx="91821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1" name="Google Shape;151;p30">
            <a:extLst>
              <a:ext uri="{FF2B5EF4-FFF2-40B4-BE49-F238E27FC236}">
                <a16:creationId xmlns:a16="http://schemas.microsoft.com/office/drawing/2014/main" id="{7F943107-8DD5-81DD-5362-6454890578FC}"/>
              </a:ext>
            </a:extLst>
          </p:cNvPr>
          <p:cNvCxnSpPr/>
          <p:nvPr/>
        </p:nvCxnSpPr>
        <p:spPr>
          <a:xfrm>
            <a:off x="-5300" y="2762575"/>
            <a:ext cx="91821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142;p30">
            <a:extLst>
              <a:ext uri="{FF2B5EF4-FFF2-40B4-BE49-F238E27FC236}">
                <a16:creationId xmlns:a16="http://schemas.microsoft.com/office/drawing/2014/main" id="{38B021E3-8B4D-8B36-CC80-96664D10DA7C}"/>
              </a:ext>
            </a:extLst>
          </p:cNvPr>
          <p:cNvSpPr txBox="1">
            <a:spLocks/>
          </p:cNvSpPr>
          <p:nvPr/>
        </p:nvSpPr>
        <p:spPr>
          <a:xfrm>
            <a:off x="7549503" y="404669"/>
            <a:ext cx="1732156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l" rtl="0">
              <a:buClrTx/>
              <a:buFontTx/>
            </a:pPr>
            <a:r>
              <a:rPr lang="en-IN" sz="4400" dirty="0">
                <a:solidFill>
                  <a:schemeClr val="bg1"/>
                </a:solidFill>
                <a:latin typeface="Carattere" panose="020B0604020202020204" charset="0"/>
              </a:rPr>
              <a:t>Task 5</a:t>
            </a:r>
          </a:p>
        </p:txBody>
      </p:sp>
      <p:sp>
        <p:nvSpPr>
          <p:cNvPr id="14" name="Google Shape;142;p30">
            <a:extLst>
              <a:ext uri="{FF2B5EF4-FFF2-40B4-BE49-F238E27FC236}">
                <a16:creationId xmlns:a16="http://schemas.microsoft.com/office/drawing/2014/main" id="{9245EAA7-DCDF-0FE7-3C4C-7B536FF05393}"/>
              </a:ext>
            </a:extLst>
          </p:cNvPr>
          <p:cNvSpPr txBox="1">
            <a:spLocks/>
          </p:cNvSpPr>
          <p:nvPr/>
        </p:nvSpPr>
        <p:spPr>
          <a:xfrm>
            <a:off x="188699" y="2717296"/>
            <a:ext cx="2770091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4400" b="0" i="0" u="none" strike="noStrike" cap="none">
                <a:solidFill>
                  <a:schemeClr val="lt1"/>
                </a:solidFill>
                <a:latin typeface="Carattere"/>
                <a:ea typeface="Carattere"/>
                <a:cs typeface="Carattere"/>
                <a:sym typeface="Caratter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r>
              <a:rPr lang="en-IN" sz="20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Placement Bidding</a:t>
            </a:r>
          </a:p>
        </p:txBody>
      </p:sp>
    </p:spTree>
    <p:extLst>
      <p:ext uri="{BB962C8B-B14F-4D97-AF65-F5344CB8AC3E}">
        <p14:creationId xmlns:p14="http://schemas.microsoft.com/office/powerpoint/2010/main" val="32233689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>
          <a:extLst>
            <a:ext uri="{FF2B5EF4-FFF2-40B4-BE49-F238E27FC236}">
              <a16:creationId xmlns:a16="http://schemas.microsoft.com/office/drawing/2014/main" id="{06ABE4F1-8297-AC4F-C6E3-D1EAB29BB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0">
            <a:extLst>
              <a:ext uri="{FF2B5EF4-FFF2-40B4-BE49-F238E27FC236}">
                <a16:creationId xmlns:a16="http://schemas.microsoft.com/office/drawing/2014/main" id="{10D656CE-0964-68B6-7798-6A55C63F15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776" y="251175"/>
            <a:ext cx="906222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dirty="0"/>
              <a:t>B</a:t>
            </a:r>
            <a:r>
              <a:rPr lang="en" dirty="0"/>
              <a:t>idding Strategies</a:t>
            </a:r>
            <a:endParaRPr dirty="0"/>
          </a:p>
        </p:txBody>
      </p:sp>
      <p:sp>
        <p:nvSpPr>
          <p:cNvPr id="142" name="Google Shape;142;p30">
            <a:extLst>
              <a:ext uri="{FF2B5EF4-FFF2-40B4-BE49-F238E27FC236}">
                <a16:creationId xmlns:a16="http://schemas.microsoft.com/office/drawing/2014/main" id="{B63A7899-3C03-A381-3A60-DED7D718C773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88700" y="777914"/>
            <a:ext cx="3602715" cy="63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sz="20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Keyword Match Strategy</a:t>
            </a:r>
            <a:endParaRPr sz="20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6" name="Google Shape;146;p30">
            <a:extLst>
              <a:ext uri="{FF2B5EF4-FFF2-40B4-BE49-F238E27FC236}">
                <a16:creationId xmlns:a16="http://schemas.microsoft.com/office/drawing/2014/main" id="{5E9B2639-7BBB-246B-5213-7CF389653A3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13134" y="1401515"/>
            <a:ext cx="8542166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b="1" dirty="0"/>
              <a:t>Exact Match:</a:t>
            </a:r>
            <a:r>
              <a:rPr lang="en-IN" dirty="0"/>
              <a:t> High bids for your top converting keywords (</a:t>
            </a:r>
            <a:r>
              <a:rPr lang="en-IN" i="1" dirty="0"/>
              <a:t>insulated stainless steel water bottle, eco-friendly bottle</a:t>
            </a:r>
            <a:r>
              <a:rPr lang="en-IN" dirty="0"/>
              <a:t>). </a:t>
            </a:r>
          </a:p>
          <a:p>
            <a:pPr marL="0" lvl="0" indent="0"/>
            <a:r>
              <a:rPr lang="en-IN" b="1" dirty="0"/>
              <a:t>Phrase Match:</a:t>
            </a:r>
            <a:r>
              <a:rPr lang="en-IN" dirty="0"/>
              <a:t> Medium bids for related searches (</a:t>
            </a:r>
            <a:r>
              <a:rPr lang="en-IN" i="1" dirty="0"/>
              <a:t>reusable gym bottle, travel flask</a:t>
            </a:r>
            <a:r>
              <a:rPr lang="en-IN" dirty="0"/>
              <a:t>). </a:t>
            </a:r>
            <a:r>
              <a:rPr lang="en-IN" b="1" dirty="0"/>
              <a:t>Broad Match:</a:t>
            </a:r>
            <a:r>
              <a:rPr lang="en-IN" dirty="0"/>
              <a:t> Lower bids to discover new keyword opportunities.</a:t>
            </a:r>
            <a:endParaRPr dirty="0"/>
          </a:p>
        </p:txBody>
      </p:sp>
      <p:sp>
        <p:nvSpPr>
          <p:cNvPr id="148" name="Google Shape;148;p30">
            <a:extLst>
              <a:ext uri="{FF2B5EF4-FFF2-40B4-BE49-F238E27FC236}">
                <a16:creationId xmlns:a16="http://schemas.microsoft.com/office/drawing/2014/main" id="{E219B4F7-01D3-82B8-F6C8-D297EE45130F}"/>
              </a:ext>
            </a:extLst>
          </p:cNvPr>
          <p:cNvSpPr txBox="1">
            <a:spLocks noGrp="1"/>
          </p:cNvSpPr>
          <p:nvPr>
            <p:ph type="subTitle" idx="7"/>
          </p:nvPr>
        </p:nvSpPr>
        <p:spPr>
          <a:xfrm>
            <a:off x="413134" y="3160607"/>
            <a:ext cx="8163025" cy="4274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dirty="0"/>
              <a:t>Add irrelevant terms (e.g., </a:t>
            </a:r>
            <a:r>
              <a:rPr lang="en-IN" i="1" dirty="0"/>
              <a:t>plastic bottle, kids' sipper</a:t>
            </a:r>
            <a:r>
              <a:rPr lang="en-IN" dirty="0"/>
              <a:t>) to avoid wasted spend.</a:t>
            </a:r>
            <a:endParaRPr dirty="0"/>
          </a:p>
        </p:txBody>
      </p:sp>
      <p:cxnSp>
        <p:nvCxnSpPr>
          <p:cNvPr id="150" name="Google Shape;150;p30">
            <a:extLst>
              <a:ext uri="{FF2B5EF4-FFF2-40B4-BE49-F238E27FC236}">
                <a16:creationId xmlns:a16="http://schemas.microsoft.com/office/drawing/2014/main" id="{EFDEAE7C-B1FA-C823-921A-8C50DB76D570}"/>
              </a:ext>
            </a:extLst>
          </p:cNvPr>
          <p:cNvCxnSpPr/>
          <p:nvPr/>
        </p:nvCxnSpPr>
        <p:spPr>
          <a:xfrm>
            <a:off x="-38100" y="881912"/>
            <a:ext cx="91821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1" name="Google Shape;151;p30">
            <a:extLst>
              <a:ext uri="{FF2B5EF4-FFF2-40B4-BE49-F238E27FC236}">
                <a16:creationId xmlns:a16="http://schemas.microsoft.com/office/drawing/2014/main" id="{5234A20E-F863-E549-F161-7EB26BB3F52B}"/>
              </a:ext>
            </a:extLst>
          </p:cNvPr>
          <p:cNvCxnSpPr/>
          <p:nvPr/>
        </p:nvCxnSpPr>
        <p:spPr>
          <a:xfrm>
            <a:off x="-12019" y="2646090"/>
            <a:ext cx="91821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Google Shape;142;p30">
            <a:extLst>
              <a:ext uri="{FF2B5EF4-FFF2-40B4-BE49-F238E27FC236}">
                <a16:creationId xmlns:a16="http://schemas.microsoft.com/office/drawing/2014/main" id="{49CEC6D9-0BFA-5B5B-A1AA-9BF55F081451}"/>
              </a:ext>
            </a:extLst>
          </p:cNvPr>
          <p:cNvSpPr txBox="1">
            <a:spLocks/>
          </p:cNvSpPr>
          <p:nvPr/>
        </p:nvSpPr>
        <p:spPr>
          <a:xfrm>
            <a:off x="188699" y="2628079"/>
            <a:ext cx="2770091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4400" b="0" i="0" u="none" strike="noStrike" cap="none">
                <a:solidFill>
                  <a:schemeClr val="lt1"/>
                </a:solidFill>
                <a:latin typeface="Carattere"/>
                <a:ea typeface="Carattere"/>
                <a:cs typeface="Carattere"/>
                <a:sym typeface="Caratter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r>
              <a:rPr lang="en-IN" sz="20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Negative Keywords</a:t>
            </a:r>
          </a:p>
        </p:txBody>
      </p:sp>
      <p:cxnSp>
        <p:nvCxnSpPr>
          <p:cNvPr id="2" name="Google Shape;151;p30">
            <a:extLst>
              <a:ext uri="{FF2B5EF4-FFF2-40B4-BE49-F238E27FC236}">
                <a16:creationId xmlns:a16="http://schemas.microsoft.com/office/drawing/2014/main" id="{5B8545C4-47AB-9451-A4AC-22BB1BDA170E}"/>
              </a:ext>
            </a:extLst>
          </p:cNvPr>
          <p:cNvCxnSpPr/>
          <p:nvPr/>
        </p:nvCxnSpPr>
        <p:spPr>
          <a:xfrm>
            <a:off x="-19050" y="3725293"/>
            <a:ext cx="91821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Google Shape;142;p30">
            <a:extLst>
              <a:ext uri="{FF2B5EF4-FFF2-40B4-BE49-F238E27FC236}">
                <a16:creationId xmlns:a16="http://schemas.microsoft.com/office/drawing/2014/main" id="{DC417F4D-52C8-923B-CCC2-910B6895EBC5}"/>
              </a:ext>
            </a:extLst>
          </p:cNvPr>
          <p:cNvSpPr txBox="1">
            <a:spLocks/>
          </p:cNvSpPr>
          <p:nvPr/>
        </p:nvSpPr>
        <p:spPr>
          <a:xfrm>
            <a:off x="188699" y="3635276"/>
            <a:ext cx="5342306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4400" b="0" i="0" u="none" strike="noStrike" cap="none">
                <a:solidFill>
                  <a:schemeClr val="lt1"/>
                </a:solidFill>
                <a:latin typeface="Carattere"/>
                <a:ea typeface="Carattere"/>
                <a:cs typeface="Carattere"/>
                <a:sym typeface="Caratter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r>
              <a:rPr lang="en-IN" sz="20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Bid on misspelled &amp; Variant Keywords</a:t>
            </a:r>
          </a:p>
        </p:txBody>
      </p:sp>
      <p:sp>
        <p:nvSpPr>
          <p:cNvPr id="6" name="Google Shape;148;p30">
            <a:extLst>
              <a:ext uri="{FF2B5EF4-FFF2-40B4-BE49-F238E27FC236}">
                <a16:creationId xmlns:a16="http://schemas.microsoft.com/office/drawing/2014/main" id="{9BC839E7-35FD-06FC-F013-92D7628822CB}"/>
              </a:ext>
            </a:extLst>
          </p:cNvPr>
          <p:cNvSpPr txBox="1">
            <a:spLocks/>
          </p:cNvSpPr>
          <p:nvPr/>
        </p:nvSpPr>
        <p:spPr>
          <a:xfrm>
            <a:off x="410288" y="4223138"/>
            <a:ext cx="8163025" cy="427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6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en-IN" dirty="0"/>
              <a:t>Include common misspellings and keyword variations to capture overlooked traffic.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63167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8"/>
          <p:cNvSpPr txBox="1">
            <a:spLocks noGrp="1"/>
          </p:cNvSpPr>
          <p:nvPr>
            <p:ph type="title"/>
          </p:nvPr>
        </p:nvSpPr>
        <p:spPr>
          <a:xfrm>
            <a:off x="89210" y="253150"/>
            <a:ext cx="873512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r"/>
            <a:r>
              <a:rPr lang="en-IN" sz="2800" dirty="0"/>
              <a:t>Review &amp; Customer Engagement Strategies</a:t>
            </a:r>
          </a:p>
        </p:txBody>
      </p:sp>
      <p:sp>
        <p:nvSpPr>
          <p:cNvPr id="244" name="Google Shape;244;p38"/>
          <p:cNvSpPr/>
          <p:nvPr/>
        </p:nvSpPr>
        <p:spPr>
          <a:xfrm>
            <a:off x="1531125" y="1361700"/>
            <a:ext cx="176400" cy="176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38"/>
          <p:cNvSpPr/>
          <p:nvPr/>
        </p:nvSpPr>
        <p:spPr>
          <a:xfrm>
            <a:off x="3495025" y="1361700"/>
            <a:ext cx="176400" cy="176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38"/>
          <p:cNvSpPr/>
          <p:nvPr/>
        </p:nvSpPr>
        <p:spPr>
          <a:xfrm>
            <a:off x="5458925" y="1361700"/>
            <a:ext cx="176400" cy="176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38"/>
          <p:cNvSpPr/>
          <p:nvPr/>
        </p:nvSpPr>
        <p:spPr>
          <a:xfrm>
            <a:off x="7422825" y="1361700"/>
            <a:ext cx="176400" cy="176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38"/>
          <p:cNvSpPr txBox="1"/>
          <p:nvPr/>
        </p:nvSpPr>
        <p:spPr>
          <a:xfrm flipH="1">
            <a:off x="713125" y="1862575"/>
            <a:ext cx="1812300" cy="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IN" sz="1200" dirty="0">
                <a:solidFill>
                  <a:schemeClr val="tx1"/>
                </a:solidFill>
              </a:rPr>
              <a:t>Add thank-you insert cards with a gentle review request</a:t>
            </a:r>
            <a:endParaRPr sz="1200" dirty="0">
              <a:solidFill>
                <a:schemeClr val="tx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9" name="Google Shape;249;p38"/>
          <p:cNvSpPr txBox="1"/>
          <p:nvPr/>
        </p:nvSpPr>
        <p:spPr>
          <a:xfrm flipH="1">
            <a:off x="2677025" y="1862575"/>
            <a:ext cx="1812300" cy="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IN" sz="1200" dirty="0">
                <a:solidFill>
                  <a:schemeClr val="tx1"/>
                </a:solidFill>
              </a:rPr>
              <a:t>Send polite follow-up messages via Amazon's system</a:t>
            </a:r>
            <a:endParaRPr sz="1200" dirty="0">
              <a:solidFill>
                <a:schemeClr val="tx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0" name="Google Shape;250;p38"/>
          <p:cNvSpPr txBox="1"/>
          <p:nvPr/>
        </p:nvSpPr>
        <p:spPr>
          <a:xfrm flipH="1">
            <a:off x="4640925" y="1862575"/>
            <a:ext cx="1812300" cy="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IN" sz="1200" dirty="0">
                <a:solidFill>
                  <a:schemeClr val="tx1"/>
                </a:solidFill>
              </a:rPr>
              <a:t>Use "Request a Review" button regularly</a:t>
            </a:r>
            <a:endParaRPr sz="1200" dirty="0">
              <a:solidFill>
                <a:schemeClr val="tx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1" name="Google Shape;251;p38"/>
          <p:cNvSpPr txBox="1"/>
          <p:nvPr/>
        </p:nvSpPr>
        <p:spPr>
          <a:xfrm flipH="1">
            <a:off x="6604825" y="1862575"/>
            <a:ext cx="1812300" cy="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IN" sz="1200" dirty="0">
                <a:solidFill>
                  <a:schemeClr val="tx1"/>
                </a:solidFill>
              </a:rPr>
              <a:t>Use Amazon Vine for early authentic reviews.</a:t>
            </a:r>
            <a:endParaRPr sz="1200" dirty="0">
              <a:solidFill>
                <a:schemeClr val="tx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52" name="Google Shape;252;p38"/>
          <p:cNvCxnSpPr>
            <a:stCxn id="244" idx="3"/>
            <a:endCxn id="245" idx="1"/>
          </p:cNvCxnSpPr>
          <p:nvPr/>
        </p:nvCxnSpPr>
        <p:spPr>
          <a:xfrm>
            <a:off x="1707525" y="1449900"/>
            <a:ext cx="1787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3" name="Google Shape;253;p38"/>
          <p:cNvCxnSpPr>
            <a:stCxn id="245" idx="3"/>
            <a:endCxn id="246" idx="1"/>
          </p:cNvCxnSpPr>
          <p:nvPr/>
        </p:nvCxnSpPr>
        <p:spPr>
          <a:xfrm>
            <a:off x="3671425" y="1449900"/>
            <a:ext cx="1787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4" name="Google Shape;254;p38"/>
          <p:cNvCxnSpPr>
            <a:stCxn id="246" idx="3"/>
            <a:endCxn id="247" idx="1"/>
          </p:cNvCxnSpPr>
          <p:nvPr/>
        </p:nvCxnSpPr>
        <p:spPr>
          <a:xfrm>
            <a:off x="5635325" y="1449900"/>
            <a:ext cx="1787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5" name="Google Shape;255;p38"/>
          <p:cNvCxnSpPr>
            <a:stCxn id="244" idx="2"/>
            <a:endCxn id="248" idx="0"/>
          </p:cNvCxnSpPr>
          <p:nvPr/>
        </p:nvCxnSpPr>
        <p:spPr>
          <a:xfrm>
            <a:off x="1619325" y="1538100"/>
            <a:ext cx="0" cy="324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6" name="Google Shape;256;p38"/>
          <p:cNvCxnSpPr>
            <a:stCxn id="245" idx="2"/>
            <a:endCxn id="249" idx="0"/>
          </p:cNvCxnSpPr>
          <p:nvPr/>
        </p:nvCxnSpPr>
        <p:spPr>
          <a:xfrm>
            <a:off x="3583225" y="1538100"/>
            <a:ext cx="0" cy="324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7" name="Google Shape;257;p38"/>
          <p:cNvCxnSpPr>
            <a:stCxn id="246" idx="2"/>
            <a:endCxn id="250" idx="0"/>
          </p:cNvCxnSpPr>
          <p:nvPr/>
        </p:nvCxnSpPr>
        <p:spPr>
          <a:xfrm>
            <a:off x="5547125" y="1538100"/>
            <a:ext cx="0" cy="324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8" name="Google Shape;258;p38"/>
          <p:cNvCxnSpPr>
            <a:stCxn id="247" idx="2"/>
            <a:endCxn id="251" idx="0"/>
          </p:cNvCxnSpPr>
          <p:nvPr/>
        </p:nvCxnSpPr>
        <p:spPr>
          <a:xfrm>
            <a:off x="7511025" y="1538100"/>
            <a:ext cx="0" cy="324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9" name="Google Shape;259;p38"/>
          <p:cNvSpPr/>
          <p:nvPr/>
        </p:nvSpPr>
        <p:spPr>
          <a:xfrm>
            <a:off x="1531125" y="3196150"/>
            <a:ext cx="176400" cy="176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38"/>
          <p:cNvSpPr/>
          <p:nvPr/>
        </p:nvSpPr>
        <p:spPr>
          <a:xfrm>
            <a:off x="3495025" y="3196150"/>
            <a:ext cx="176400" cy="176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38"/>
          <p:cNvSpPr/>
          <p:nvPr/>
        </p:nvSpPr>
        <p:spPr>
          <a:xfrm>
            <a:off x="5458925" y="3196150"/>
            <a:ext cx="176400" cy="176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38"/>
          <p:cNvSpPr/>
          <p:nvPr/>
        </p:nvSpPr>
        <p:spPr>
          <a:xfrm>
            <a:off x="7422825" y="3196150"/>
            <a:ext cx="176400" cy="176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38"/>
          <p:cNvSpPr txBox="1"/>
          <p:nvPr/>
        </p:nvSpPr>
        <p:spPr>
          <a:xfrm flipH="1">
            <a:off x="713125" y="3697025"/>
            <a:ext cx="1812300" cy="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IN" sz="1200" dirty="0">
                <a:solidFill>
                  <a:schemeClr val="tx1"/>
                </a:solidFill>
              </a:rPr>
              <a:t>Run social media campaigns (#MyEcoWave)</a:t>
            </a:r>
            <a:endParaRPr sz="1200" dirty="0">
              <a:solidFill>
                <a:schemeClr val="tx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4" name="Google Shape;264;p38"/>
          <p:cNvSpPr txBox="1"/>
          <p:nvPr/>
        </p:nvSpPr>
        <p:spPr>
          <a:xfrm flipH="1">
            <a:off x="2677025" y="3697025"/>
            <a:ext cx="1812300" cy="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IN" sz="1200" dirty="0">
                <a:solidFill>
                  <a:schemeClr val="tx1"/>
                </a:solidFill>
              </a:rPr>
              <a:t>Share eco-friendly tips &amp; bottle care content</a:t>
            </a:r>
            <a:endParaRPr sz="1200" dirty="0">
              <a:solidFill>
                <a:schemeClr val="tx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5" name="Google Shape;265;p38"/>
          <p:cNvSpPr txBox="1"/>
          <p:nvPr/>
        </p:nvSpPr>
        <p:spPr>
          <a:xfrm flipH="1">
            <a:off x="4640925" y="3697025"/>
            <a:ext cx="1812300" cy="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IN" sz="1200" dirty="0">
                <a:solidFill>
                  <a:schemeClr val="tx1"/>
                </a:solidFill>
              </a:rPr>
              <a:t>Quickly respond to Amazon Q&amp;A &amp; reviews</a:t>
            </a:r>
            <a:endParaRPr sz="1200" dirty="0">
              <a:solidFill>
                <a:schemeClr val="tx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6" name="Google Shape;266;p38"/>
          <p:cNvSpPr txBox="1"/>
          <p:nvPr/>
        </p:nvSpPr>
        <p:spPr>
          <a:xfrm flipH="1">
            <a:off x="6604825" y="3697025"/>
            <a:ext cx="1812300" cy="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IN" sz="1200" dirty="0">
                <a:solidFill>
                  <a:schemeClr val="tx1"/>
                </a:solidFill>
              </a:rPr>
              <a:t>Offer bundles/discounts for repeat buyers</a:t>
            </a:r>
            <a:endParaRPr sz="1200" dirty="0">
              <a:solidFill>
                <a:schemeClr val="tx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67" name="Google Shape;267;p38"/>
          <p:cNvCxnSpPr>
            <a:stCxn id="259" idx="3"/>
            <a:endCxn id="260" idx="1"/>
          </p:cNvCxnSpPr>
          <p:nvPr/>
        </p:nvCxnSpPr>
        <p:spPr>
          <a:xfrm>
            <a:off x="1707525" y="3284350"/>
            <a:ext cx="1787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8" name="Google Shape;268;p38"/>
          <p:cNvCxnSpPr>
            <a:stCxn id="260" idx="3"/>
            <a:endCxn id="261" idx="1"/>
          </p:cNvCxnSpPr>
          <p:nvPr/>
        </p:nvCxnSpPr>
        <p:spPr>
          <a:xfrm>
            <a:off x="3671425" y="3284350"/>
            <a:ext cx="1787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9" name="Google Shape;269;p38"/>
          <p:cNvCxnSpPr>
            <a:stCxn id="261" idx="3"/>
            <a:endCxn id="262" idx="1"/>
          </p:cNvCxnSpPr>
          <p:nvPr/>
        </p:nvCxnSpPr>
        <p:spPr>
          <a:xfrm>
            <a:off x="5635325" y="3284350"/>
            <a:ext cx="1787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0" name="Google Shape;270;p38"/>
          <p:cNvCxnSpPr>
            <a:stCxn id="259" idx="2"/>
            <a:endCxn id="263" idx="0"/>
          </p:cNvCxnSpPr>
          <p:nvPr/>
        </p:nvCxnSpPr>
        <p:spPr>
          <a:xfrm>
            <a:off x="1619325" y="3372550"/>
            <a:ext cx="0" cy="324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1" name="Google Shape;271;p38"/>
          <p:cNvCxnSpPr>
            <a:stCxn id="260" idx="2"/>
            <a:endCxn id="264" idx="0"/>
          </p:cNvCxnSpPr>
          <p:nvPr/>
        </p:nvCxnSpPr>
        <p:spPr>
          <a:xfrm>
            <a:off x="3583225" y="3372550"/>
            <a:ext cx="0" cy="324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2" name="Google Shape;272;p38"/>
          <p:cNvCxnSpPr>
            <a:stCxn id="261" idx="2"/>
            <a:endCxn id="265" idx="0"/>
          </p:cNvCxnSpPr>
          <p:nvPr/>
        </p:nvCxnSpPr>
        <p:spPr>
          <a:xfrm>
            <a:off x="5547125" y="3372550"/>
            <a:ext cx="0" cy="324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3" name="Google Shape;273;p38"/>
          <p:cNvCxnSpPr>
            <a:stCxn id="262" idx="2"/>
            <a:endCxn id="266" idx="0"/>
          </p:cNvCxnSpPr>
          <p:nvPr/>
        </p:nvCxnSpPr>
        <p:spPr>
          <a:xfrm>
            <a:off x="7511025" y="3372550"/>
            <a:ext cx="0" cy="324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4" name="Google Shape;274;p38"/>
          <p:cNvCxnSpPr>
            <a:endCxn id="244" idx="1"/>
          </p:cNvCxnSpPr>
          <p:nvPr/>
        </p:nvCxnSpPr>
        <p:spPr>
          <a:xfrm>
            <a:off x="-23175" y="1449900"/>
            <a:ext cx="1554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5" name="Google Shape;275;p38"/>
          <p:cNvCxnSpPr>
            <a:stCxn id="247" idx="3"/>
          </p:cNvCxnSpPr>
          <p:nvPr/>
        </p:nvCxnSpPr>
        <p:spPr>
          <a:xfrm>
            <a:off x="7599225" y="1449900"/>
            <a:ext cx="1544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6" name="Google Shape;276;p38"/>
          <p:cNvCxnSpPr>
            <a:endCxn id="259" idx="1"/>
          </p:cNvCxnSpPr>
          <p:nvPr/>
        </p:nvCxnSpPr>
        <p:spPr>
          <a:xfrm>
            <a:off x="-975" y="3284350"/>
            <a:ext cx="1532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7" name="Google Shape;277;p38"/>
          <p:cNvCxnSpPr/>
          <p:nvPr/>
        </p:nvCxnSpPr>
        <p:spPr>
          <a:xfrm>
            <a:off x="-5300" y="835350"/>
            <a:ext cx="9182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8" name="Google Shape;278;p38"/>
          <p:cNvCxnSpPr>
            <a:stCxn id="262" idx="3"/>
          </p:cNvCxnSpPr>
          <p:nvPr/>
        </p:nvCxnSpPr>
        <p:spPr>
          <a:xfrm>
            <a:off x="7599225" y="3284350"/>
            <a:ext cx="1544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142;p30">
            <a:extLst>
              <a:ext uri="{FF2B5EF4-FFF2-40B4-BE49-F238E27FC236}">
                <a16:creationId xmlns:a16="http://schemas.microsoft.com/office/drawing/2014/main" id="{C6B34255-1689-5AFC-F595-9528809728F8}"/>
              </a:ext>
            </a:extLst>
          </p:cNvPr>
          <p:cNvSpPr txBox="1">
            <a:spLocks/>
          </p:cNvSpPr>
          <p:nvPr/>
        </p:nvSpPr>
        <p:spPr>
          <a:xfrm>
            <a:off x="44604" y="348188"/>
            <a:ext cx="1732156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l" rtl="0">
              <a:buClrTx/>
              <a:buFontTx/>
            </a:pPr>
            <a:r>
              <a:rPr lang="en-IN" sz="4400" dirty="0">
                <a:solidFill>
                  <a:schemeClr val="tx1"/>
                </a:solidFill>
                <a:latin typeface="Carattere" panose="020B0604020202020204" charset="0"/>
              </a:rPr>
              <a:t>Task 6</a:t>
            </a:r>
          </a:p>
        </p:txBody>
      </p:sp>
      <p:sp>
        <p:nvSpPr>
          <p:cNvPr id="7" name="Google Shape;142;p30">
            <a:extLst>
              <a:ext uri="{FF2B5EF4-FFF2-40B4-BE49-F238E27FC236}">
                <a16:creationId xmlns:a16="http://schemas.microsoft.com/office/drawing/2014/main" id="{8818EEB7-9DB2-37B9-0D65-3E1A8ED9620D}"/>
              </a:ext>
            </a:extLst>
          </p:cNvPr>
          <p:cNvSpPr txBox="1">
            <a:spLocks/>
          </p:cNvSpPr>
          <p:nvPr/>
        </p:nvSpPr>
        <p:spPr>
          <a:xfrm>
            <a:off x="3915500" y="800499"/>
            <a:ext cx="2770091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4400" b="0" i="0" u="none" strike="noStrike" cap="none">
                <a:solidFill>
                  <a:schemeClr val="lt1"/>
                </a:solidFill>
                <a:latin typeface="Carattere"/>
                <a:ea typeface="Carattere"/>
                <a:cs typeface="Carattere"/>
                <a:sym typeface="Caratter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r>
              <a:rPr lang="en-IN" sz="20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Reviews </a:t>
            </a:r>
          </a:p>
        </p:txBody>
      </p:sp>
      <p:sp>
        <p:nvSpPr>
          <p:cNvPr id="9" name="Google Shape;142;p30">
            <a:extLst>
              <a:ext uri="{FF2B5EF4-FFF2-40B4-BE49-F238E27FC236}">
                <a16:creationId xmlns:a16="http://schemas.microsoft.com/office/drawing/2014/main" id="{179C6138-FAE5-6106-14CF-56983A5C6AA1}"/>
              </a:ext>
            </a:extLst>
          </p:cNvPr>
          <p:cNvSpPr txBox="1">
            <a:spLocks/>
          </p:cNvSpPr>
          <p:nvPr/>
        </p:nvSpPr>
        <p:spPr>
          <a:xfrm>
            <a:off x="3038271" y="2609508"/>
            <a:ext cx="3362528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4400" b="0" i="0" u="none" strike="noStrike" cap="none">
                <a:solidFill>
                  <a:schemeClr val="lt1"/>
                </a:solidFill>
                <a:latin typeface="Carattere"/>
                <a:ea typeface="Carattere"/>
                <a:cs typeface="Carattere"/>
                <a:sym typeface="Caratter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r>
              <a:rPr lang="en-IN" sz="20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Customer Engagement</a:t>
            </a:r>
          </a:p>
        </p:txBody>
      </p:sp>
      <p:sp>
        <p:nvSpPr>
          <p:cNvPr id="11" name="Google Shape;285;p39">
            <a:extLst>
              <a:ext uri="{FF2B5EF4-FFF2-40B4-BE49-F238E27FC236}">
                <a16:creationId xmlns:a16="http://schemas.microsoft.com/office/drawing/2014/main" id="{EC402B5D-B831-37A2-DDB5-B700A648E780}"/>
              </a:ext>
            </a:extLst>
          </p:cNvPr>
          <p:cNvSpPr txBox="1">
            <a:spLocks/>
          </p:cNvSpPr>
          <p:nvPr/>
        </p:nvSpPr>
        <p:spPr>
          <a:xfrm>
            <a:off x="760852" y="4647069"/>
            <a:ext cx="7917365" cy="629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 algn="ctr"/>
            <a:r>
              <a:rPr lang="en-IN" sz="1400" dirty="0"/>
              <a:t>This keeps Eco-Wave customers engaged, loyal, and more likely to leave positive reviews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>
          <a:extLst>
            <a:ext uri="{FF2B5EF4-FFF2-40B4-BE49-F238E27FC236}">
              <a16:creationId xmlns:a16="http://schemas.microsoft.com/office/drawing/2014/main" id="{B8804326-ED47-C211-621A-54D2E00D3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4">
            <a:extLst>
              <a:ext uri="{FF2B5EF4-FFF2-40B4-BE49-F238E27FC236}">
                <a16:creationId xmlns:a16="http://schemas.microsoft.com/office/drawing/2014/main" id="{ACF16C5C-CF6E-6508-2855-883D79E2509C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5230277" y="1659200"/>
            <a:ext cx="2682300" cy="78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2. Sales &amp; Conversions </a:t>
            </a:r>
            <a:endParaRPr dirty="0"/>
          </a:p>
        </p:txBody>
      </p:sp>
      <p:sp>
        <p:nvSpPr>
          <p:cNvPr id="183" name="Google Shape;183;p34">
            <a:extLst>
              <a:ext uri="{FF2B5EF4-FFF2-40B4-BE49-F238E27FC236}">
                <a16:creationId xmlns:a16="http://schemas.microsoft.com/office/drawing/2014/main" id="{5C9124D0-97A8-412E-6376-7EC44ED2E4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7675" y="2626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Analyze performance &amp; make adjustments </a:t>
            </a:r>
            <a:endParaRPr dirty="0"/>
          </a:p>
        </p:txBody>
      </p:sp>
      <p:sp>
        <p:nvSpPr>
          <p:cNvPr id="184" name="Google Shape;184;p34">
            <a:extLst>
              <a:ext uri="{FF2B5EF4-FFF2-40B4-BE49-F238E27FC236}">
                <a16:creationId xmlns:a16="http://schemas.microsoft.com/office/drawing/2014/main" id="{E660CFF5-3C16-B69F-A662-F2C665DEB94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006340" y="2574147"/>
            <a:ext cx="3406140" cy="17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sz="1400" b="1" dirty="0">
                <a:solidFill>
                  <a:schemeClr val="tx1"/>
                </a:solidFill>
              </a:rPr>
              <a:t>Result:</a:t>
            </a:r>
            <a:r>
              <a:rPr lang="en-IN" sz="1400" dirty="0">
                <a:solidFill>
                  <a:schemeClr val="tx1"/>
                </a:solidFill>
              </a:rPr>
              <a:t> Sales grew </a:t>
            </a:r>
            <a:r>
              <a:rPr lang="en-IN" sz="1400" b="1" dirty="0">
                <a:solidFill>
                  <a:schemeClr val="tx1"/>
                </a:solidFill>
              </a:rPr>
              <a:t>300</a:t>
            </a:r>
            <a:r>
              <a:rPr lang="en-IN" sz="1400" dirty="0">
                <a:solidFill>
                  <a:schemeClr val="tx1"/>
                </a:solidFill>
              </a:rPr>
              <a:t> to </a:t>
            </a:r>
            <a:r>
              <a:rPr lang="en-IN" sz="1400" b="1" dirty="0">
                <a:solidFill>
                  <a:schemeClr val="tx1"/>
                </a:solidFill>
              </a:rPr>
              <a:t>500 units/month</a:t>
            </a:r>
            <a:r>
              <a:rPr lang="en-IN" sz="1400" dirty="0">
                <a:solidFill>
                  <a:schemeClr val="tx1"/>
                </a:solidFill>
              </a:rPr>
              <a:t>. Conversion rate steady at </a:t>
            </a:r>
            <a:r>
              <a:rPr lang="en-IN" sz="1400" b="1" dirty="0">
                <a:solidFill>
                  <a:schemeClr val="tx1"/>
                </a:solidFill>
              </a:rPr>
              <a:t>12%</a:t>
            </a:r>
            <a:r>
              <a:rPr lang="en-IN" sz="1400" dirty="0">
                <a:solidFill>
                  <a:schemeClr val="tx1"/>
                </a:solidFill>
              </a:rPr>
              <a:t>.</a:t>
            </a:r>
          </a:p>
          <a:p>
            <a:r>
              <a:rPr lang="en-IN" sz="1400" b="1" dirty="0">
                <a:solidFill>
                  <a:schemeClr val="tx1"/>
                </a:solidFill>
              </a:rPr>
              <a:t>Adjustment:</a:t>
            </a:r>
            <a:r>
              <a:rPr lang="en-IN" sz="1400" dirty="0">
                <a:solidFill>
                  <a:schemeClr val="tx1"/>
                </a:solidFill>
              </a:rPr>
              <a:t> Improve product images &amp; add infographic (Hot/Cold 24 hrs.). Launch bundle offer (Set of 2 bottles) to raise conversion to 15–18%.</a:t>
            </a:r>
          </a:p>
        </p:txBody>
      </p:sp>
      <p:sp>
        <p:nvSpPr>
          <p:cNvPr id="185" name="Google Shape;185;p34">
            <a:extLst>
              <a:ext uri="{FF2B5EF4-FFF2-40B4-BE49-F238E27FC236}">
                <a16:creationId xmlns:a16="http://schemas.microsoft.com/office/drawing/2014/main" id="{179C03AE-6235-43A4-1FDA-8BA4C4C32C66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613318" y="2574147"/>
            <a:ext cx="3300408" cy="17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sz="1400" b="1" dirty="0">
                <a:solidFill>
                  <a:schemeClr val="tx1"/>
                </a:solidFill>
              </a:rPr>
              <a:t>Result:</a:t>
            </a:r>
            <a:r>
              <a:rPr lang="en-IN" sz="1400" dirty="0">
                <a:solidFill>
                  <a:schemeClr val="tx1"/>
                </a:solidFill>
              </a:rPr>
              <a:t> Main keyword “</a:t>
            </a:r>
            <a:r>
              <a:rPr lang="en-IN" sz="1400" i="1" dirty="0">
                <a:solidFill>
                  <a:schemeClr val="tx1"/>
                </a:solidFill>
              </a:rPr>
              <a:t>Insulated stainless steel bottle</a:t>
            </a:r>
            <a:r>
              <a:rPr lang="en-IN" sz="1400" dirty="0">
                <a:solidFill>
                  <a:schemeClr val="tx1"/>
                </a:solidFill>
              </a:rPr>
              <a:t>” moved from page 5 to page 2. CTR improved </a:t>
            </a:r>
            <a:r>
              <a:rPr lang="en-IN" sz="1400" b="1" dirty="0">
                <a:solidFill>
                  <a:schemeClr val="tx1"/>
                </a:solidFill>
              </a:rPr>
              <a:t>1.5%</a:t>
            </a:r>
            <a:r>
              <a:rPr lang="en-IN" sz="1400" dirty="0">
                <a:solidFill>
                  <a:schemeClr val="tx1"/>
                </a:solidFill>
              </a:rPr>
              <a:t> to </a:t>
            </a:r>
            <a:r>
              <a:rPr lang="en-IN" sz="1400" b="1" dirty="0">
                <a:solidFill>
                  <a:schemeClr val="tx1"/>
                </a:solidFill>
              </a:rPr>
              <a:t>3.8%</a:t>
            </a:r>
            <a:r>
              <a:rPr lang="en-IN" sz="1400" dirty="0">
                <a:solidFill>
                  <a:schemeClr val="tx1"/>
                </a:solidFill>
              </a:rPr>
              <a:t>.</a:t>
            </a:r>
          </a:p>
          <a:p>
            <a:r>
              <a:rPr lang="en-IN" sz="1400" b="1" dirty="0">
                <a:solidFill>
                  <a:schemeClr val="tx1"/>
                </a:solidFill>
              </a:rPr>
              <a:t>Adjustment:</a:t>
            </a:r>
            <a:r>
              <a:rPr lang="en-IN" sz="1400" dirty="0">
                <a:solidFill>
                  <a:schemeClr val="tx1"/>
                </a:solidFill>
              </a:rPr>
              <a:t> Add more long-tail keywords (</a:t>
            </a:r>
            <a:r>
              <a:rPr lang="en-IN" sz="1400" i="1" dirty="0">
                <a:solidFill>
                  <a:schemeClr val="tx1"/>
                </a:solidFill>
              </a:rPr>
              <a:t>eco-friendly gym bottle, leak-proof travel flask</a:t>
            </a:r>
            <a:r>
              <a:rPr lang="en-IN" sz="1400" dirty="0">
                <a:solidFill>
                  <a:schemeClr val="tx1"/>
                </a:solidFill>
              </a:rPr>
              <a:t>) + optimize backend search terms.</a:t>
            </a:r>
          </a:p>
        </p:txBody>
      </p:sp>
      <p:sp>
        <p:nvSpPr>
          <p:cNvPr id="186" name="Google Shape;186;p34">
            <a:extLst>
              <a:ext uri="{FF2B5EF4-FFF2-40B4-BE49-F238E27FC236}">
                <a16:creationId xmlns:a16="http://schemas.microsoft.com/office/drawing/2014/main" id="{6C19E28B-E023-6C29-9A33-A4C668AAF655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995800" y="1659200"/>
            <a:ext cx="2682300" cy="78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solidFill>
                  <a:schemeClr val="tx1"/>
                </a:solidFill>
              </a:rPr>
              <a:t>1. K</a:t>
            </a:r>
            <a:r>
              <a:rPr lang="en" dirty="0">
                <a:solidFill>
                  <a:schemeClr val="tx1"/>
                </a:solidFill>
              </a:rPr>
              <a:t>eywords &amp; SEO </a:t>
            </a:r>
            <a:endParaRPr dirty="0">
              <a:solidFill>
                <a:schemeClr val="tx1"/>
              </a:solidFill>
            </a:endParaRPr>
          </a:p>
        </p:txBody>
      </p:sp>
      <p:cxnSp>
        <p:nvCxnSpPr>
          <p:cNvPr id="187" name="Google Shape;187;p34">
            <a:extLst>
              <a:ext uri="{FF2B5EF4-FFF2-40B4-BE49-F238E27FC236}">
                <a16:creationId xmlns:a16="http://schemas.microsoft.com/office/drawing/2014/main" id="{93A2DECF-D73A-2582-9F0F-A6855190AF10}"/>
              </a:ext>
            </a:extLst>
          </p:cNvPr>
          <p:cNvCxnSpPr/>
          <p:nvPr/>
        </p:nvCxnSpPr>
        <p:spPr>
          <a:xfrm>
            <a:off x="-5300" y="835350"/>
            <a:ext cx="9182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8" name="Google Shape;188;p34">
            <a:extLst>
              <a:ext uri="{FF2B5EF4-FFF2-40B4-BE49-F238E27FC236}">
                <a16:creationId xmlns:a16="http://schemas.microsoft.com/office/drawing/2014/main" id="{67DC8D95-3279-F029-A964-4C21D0A60B23}"/>
              </a:ext>
            </a:extLst>
          </p:cNvPr>
          <p:cNvCxnSpPr/>
          <p:nvPr/>
        </p:nvCxnSpPr>
        <p:spPr>
          <a:xfrm>
            <a:off x="-5300" y="2467050"/>
            <a:ext cx="9182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142;p30">
            <a:extLst>
              <a:ext uri="{FF2B5EF4-FFF2-40B4-BE49-F238E27FC236}">
                <a16:creationId xmlns:a16="http://schemas.microsoft.com/office/drawing/2014/main" id="{D3C36198-31CA-5160-1532-49008D44CE04}"/>
              </a:ext>
            </a:extLst>
          </p:cNvPr>
          <p:cNvSpPr txBox="1">
            <a:spLocks/>
          </p:cNvSpPr>
          <p:nvPr/>
        </p:nvSpPr>
        <p:spPr>
          <a:xfrm>
            <a:off x="3678100" y="1232154"/>
            <a:ext cx="1732156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l" rtl="0">
              <a:buClrTx/>
              <a:buFontTx/>
            </a:pPr>
            <a:r>
              <a:rPr lang="en-IN" sz="4400" dirty="0">
                <a:solidFill>
                  <a:schemeClr val="tx1"/>
                </a:solidFill>
                <a:latin typeface="Carattere" panose="020B0604020202020204" charset="0"/>
              </a:rPr>
              <a:t>Task 7</a:t>
            </a:r>
          </a:p>
        </p:txBody>
      </p:sp>
    </p:spTree>
    <p:extLst>
      <p:ext uri="{BB962C8B-B14F-4D97-AF65-F5344CB8AC3E}">
        <p14:creationId xmlns:p14="http://schemas.microsoft.com/office/powerpoint/2010/main" val="27080830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>
          <a:extLst>
            <a:ext uri="{FF2B5EF4-FFF2-40B4-BE49-F238E27FC236}">
              <a16:creationId xmlns:a16="http://schemas.microsoft.com/office/drawing/2014/main" id="{A639F78F-345D-81D1-A780-031328BDD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4">
            <a:extLst>
              <a:ext uri="{FF2B5EF4-FFF2-40B4-BE49-F238E27FC236}">
                <a16:creationId xmlns:a16="http://schemas.microsoft.com/office/drawing/2014/main" id="{794F4B3C-93F8-4789-7C71-5EFDB5C56E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7675" y="2626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Analyze performance &amp; make adjustments </a:t>
            </a:r>
            <a:endParaRPr dirty="0"/>
          </a:p>
        </p:txBody>
      </p:sp>
      <p:sp>
        <p:nvSpPr>
          <p:cNvPr id="184" name="Google Shape;184;p34">
            <a:extLst>
              <a:ext uri="{FF2B5EF4-FFF2-40B4-BE49-F238E27FC236}">
                <a16:creationId xmlns:a16="http://schemas.microsoft.com/office/drawing/2014/main" id="{502EFECB-72E7-E172-4A42-1C6611B5BC7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006340" y="1843669"/>
            <a:ext cx="3406140" cy="24860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sz="1400" b="1" dirty="0">
                <a:solidFill>
                  <a:schemeClr val="tx1"/>
                </a:solidFill>
              </a:rPr>
              <a:t>Adjustment:</a:t>
            </a:r>
            <a:endParaRPr lang="en-IN" sz="1400" dirty="0">
              <a:solidFill>
                <a:schemeClr val="tx1"/>
              </a:solidFill>
            </a:endParaRPr>
          </a:p>
          <a:p>
            <a:r>
              <a:rPr lang="en-IN" sz="1400" dirty="0">
                <a:solidFill>
                  <a:schemeClr val="tx1"/>
                </a:solidFill>
              </a:rPr>
              <a:t>Lower bids on low-performing keywords in Sponsored Products.</a:t>
            </a:r>
          </a:p>
          <a:p>
            <a:r>
              <a:rPr lang="en-IN" sz="1400" dirty="0">
                <a:solidFill>
                  <a:schemeClr val="tx1"/>
                </a:solidFill>
              </a:rPr>
              <a:t>Shift </a:t>
            </a:r>
            <a:r>
              <a:rPr lang="en-IN" sz="1400" b="1" dirty="0">
                <a:solidFill>
                  <a:schemeClr val="tx1"/>
                </a:solidFill>
              </a:rPr>
              <a:t>30% budget</a:t>
            </a:r>
            <a:r>
              <a:rPr lang="en-IN" sz="1400" dirty="0">
                <a:solidFill>
                  <a:schemeClr val="tx1"/>
                </a:solidFill>
              </a:rPr>
              <a:t> to Sponsored Brands (stronger ROI).</a:t>
            </a:r>
          </a:p>
          <a:p>
            <a:r>
              <a:rPr lang="en-IN" sz="1400" dirty="0">
                <a:solidFill>
                  <a:schemeClr val="tx1"/>
                </a:solidFill>
              </a:rPr>
              <a:t>Add negative keywords (e.g., "plastic bottle") to reduce wasted spend.</a:t>
            </a:r>
          </a:p>
        </p:txBody>
      </p:sp>
      <p:sp>
        <p:nvSpPr>
          <p:cNvPr id="185" name="Google Shape;185;p34">
            <a:extLst>
              <a:ext uri="{FF2B5EF4-FFF2-40B4-BE49-F238E27FC236}">
                <a16:creationId xmlns:a16="http://schemas.microsoft.com/office/drawing/2014/main" id="{C462B7A1-0E6B-D3A1-8D33-2D2E65271C21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613317" y="1843669"/>
            <a:ext cx="3586975" cy="24860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sz="1400" b="1" dirty="0"/>
              <a:t>Result:</a:t>
            </a:r>
            <a:endParaRPr lang="en-IN" sz="1400" dirty="0"/>
          </a:p>
          <a:p>
            <a:r>
              <a:rPr lang="en-IN" sz="1400" dirty="0">
                <a:solidFill>
                  <a:schemeClr val="tx1"/>
                </a:solidFill>
              </a:rPr>
              <a:t>Sponsored Products to </a:t>
            </a:r>
            <a:r>
              <a:rPr lang="en-IN" sz="1400" dirty="0" err="1">
                <a:solidFill>
                  <a:schemeClr val="tx1"/>
                </a:solidFill>
              </a:rPr>
              <a:t>ACoS</a:t>
            </a:r>
            <a:r>
              <a:rPr lang="en-IN" sz="1400" dirty="0">
                <a:solidFill>
                  <a:schemeClr val="tx1"/>
                </a:solidFill>
              </a:rPr>
              <a:t> </a:t>
            </a:r>
            <a:r>
              <a:rPr lang="en-IN" sz="1400" b="1" dirty="0">
                <a:solidFill>
                  <a:schemeClr val="tx1"/>
                </a:solidFill>
              </a:rPr>
              <a:t>42%</a:t>
            </a:r>
            <a:r>
              <a:rPr lang="en-IN" sz="1400" dirty="0">
                <a:solidFill>
                  <a:schemeClr val="tx1"/>
                </a:solidFill>
              </a:rPr>
              <a:t> (too high, reducing profitability).</a:t>
            </a:r>
          </a:p>
          <a:p>
            <a:r>
              <a:rPr lang="en-IN" sz="1400" dirty="0">
                <a:solidFill>
                  <a:schemeClr val="tx1"/>
                </a:solidFill>
              </a:rPr>
              <a:t>Sponsored Brands to </a:t>
            </a:r>
            <a:r>
              <a:rPr lang="en-IN" sz="1400" dirty="0" err="1">
                <a:solidFill>
                  <a:schemeClr val="tx1"/>
                </a:solidFill>
              </a:rPr>
              <a:t>ACoS</a:t>
            </a:r>
            <a:r>
              <a:rPr lang="en-IN" sz="1400" dirty="0">
                <a:solidFill>
                  <a:schemeClr val="tx1"/>
                </a:solidFill>
              </a:rPr>
              <a:t> </a:t>
            </a:r>
            <a:r>
              <a:rPr lang="en-IN" sz="1400" b="1" dirty="0">
                <a:solidFill>
                  <a:schemeClr val="tx1"/>
                </a:solidFill>
              </a:rPr>
              <a:t>22%</a:t>
            </a:r>
            <a:r>
              <a:rPr lang="en-IN" sz="1400" dirty="0">
                <a:solidFill>
                  <a:schemeClr val="tx1"/>
                </a:solidFill>
              </a:rPr>
              <a:t> (healthy, driving awareness).</a:t>
            </a:r>
          </a:p>
          <a:p>
            <a:r>
              <a:rPr lang="en-IN" sz="1400" dirty="0">
                <a:solidFill>
                  <a:schemeClr val="tx1"/>
                </a:solidFill>
              </a:rPr>
              <a:t>Sponsored Display to </a:t>
            </a:r>
            <a:r>
              <a:rPr lang="en-IN" sz="1400" dirty="0" err="1">
                <a:solidFill>
                  <a:schemeClr val="tx1"/>
                </a:solidFill>
              </a:rPr>
              <a:t>ACoS</a:t>
            </a:r>
            <a:r>
              <a:rPr lang="en-IN" sz="1400" dirty="0">
                <a:solidFill>
                  <a:schemeClr val="tx1"/>
                </a:solidFill>
              </a:rPr>
              <a:t> </a:t>
            </a:r>
            <a:r>
              <a:rPr lang="en-IN" sz="1400" b="1" dirty="0">
                <a:solidFill>
                  <a:schemeClr val="tx1"/>
                </a:solidFill>
              </a:rPr>
              <a:t>28%</a:t>
            </a:r>
            <a:r>
              <a:rPr lang="en-IN" sz="1400" dirty="0">
                <a:solidFill>
                  <a:schemeClr val="tx1"/>
                </a:solidFill>
              </a:rPr>
              <a:t> (moderate, good for retargeting).</a:t>
            </a:r>
          </a:p>
        </p:txBody>
      </p:sp>
      <p:sp>
        <p:nvSpPr>
          <p:cNvPr id="186" name="Google Shape;186;p34">
            <a:extLst>
              <a:ext uri="{FF2B5EF4-FFF2-40B4-BE49-F238E27FC236}">
                <a16:creationId xmlns:a16="http://schemas.microsoft.com/office/drawing/2014/main" id="{C7459A01-DA6C-EC0D-C611-D4CDDD6F60C4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758283" y="723544"/>
            <a:ext cx="2897515" cy="78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IN" dirty="0"/>
              <a:t>3. Ad Campaigns</a:t>
            </a:r>
            <a:endParaRPr dirty="0">
              <a:solidFill>
                <a:schemeClr val="tx1"/>
              </a:solidFill>
            </a:endParaRPr>
          </a:p>
        </p:txBody>
      </p:sp>
      <p:cxnSp>
        <p:nvCxnSpPr>
          <p:cNvPr id="187" name="Google Shape;187;p34">
            <a:extLst>
              <a:ext uri="{FF2B5EF4-FFF2-40B4-BE49-F238E27FC236}">
                <a16:creationId xmlns:a16="http://schemas.microsoft.com/office/drawing/2014/main" id="{DCA3CD6E-EDF0-FE24-3DB4-ADFBA23A5458}"/>
              </a:ext>
            </a:extLst>
          </p:cNvPr>
          <p:cNvCxnSpPr/>
          <p:nvPr/>
        </p:nvCxnSpPr>
        <p:spPr>
          <a:xfrm>
            <a:off x="-5300" y="835350"/>
            <a:ext cx="9182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8" name="Google Shape;188;p34">
            <a:extLst>
              <a:ext uri="{FF2B5EF4-FFF2-40B4-BE49-F238E27FC236}">
                <a16:creationId xmlns:a16="http://schemas.microsoft.com/office/drawing/2014/main" id="{37EE550E-A8F3-0DFB-3A9F-483A33DC713B}"/>
              </a:ext>
            </a:extLst>
          </p:cNvPr>
          <p:cNvCxnSpPr/>
          <p:nvPr/>
        </p:nvCxnSpPr>
        <p:spPr>
          <a:xfrm>
            <a:off x="-38100" y="1723635"/>
            <a:ext cx="9182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7981852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>
          <a:extLst>
            <a:ext uri="{FF2B5EF4-FFF2-40B4-BE49-F238E27FC236}">
              <a16:creationId xmlns:a16="http://schemas.microsoft.com/office/drawing/2014/main" id="{8718A97A-300E-BD26-D900-C20041998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4">
            <a:extLst>
              <a:ext uri="{FF2B5EF4-FFF2-40B4-BE49-F238E27FC236}">
                <a16:creationId xmlns:a16="http://schemas.microsoft.com/office/drawing/2014/main" id="{E8628BE1-C2EF-8900-D432-3876794457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7675" y="2626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Analyze performance &amp; make adjustments </a:t>
            </a:r>
            <a:endParaRPr dirty="0"/>
          </a:p>
        </p:txBody>
      </p:sp>
      <p:sp>
        <p:nvSpPr>
          <p:cNvPr id="184" name="Google Shape;184;p34">
            <a:extLst>
              <a:ext uri="{FF2B5EF4-FFF2-40B4-BE49-F238E27FC236}">
                <a16:creationId xmlns:a16="http://schemas.microsoft.com/office/drawing/2014/main" id="{5E4166A6-3840-402D-20E7-C519C869564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006340" y="1843669"/>
            <a:ext cx="3406140" cy="24860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sz="1400" b="1" dirty="0"/>
              <a:t>Result:</a:t>
            </a:r>
            <a:r>
              <a:rPr lang="en-IN" sz="1400" dirty="0"/>
              <a:t> Repeat purchase rate </a:t>
            </a:r>
            <a:r>
              <a:rPr lang="en-IN" sz="1400" b="1" dirty="0"/>
              <a:t>15%</a:t>
            </a:r>
            <a:r>
              <a:rPr lang="en-IN" sz="1400" dirty="0"/>
              <a:t>, mainly gym &amp; outdoor users.</a:t>
            </a:r>
          </a:p>
          <a:p>
            <a:r>
              <a:rPr lang="en-IN" sz="1400" b="1" dirty="0"/>
              <a:t>Adjustment:</a:t>
            </a:r>
            <a:r>
              <a:rPr lang="en-IN" sz="1400" dirty="0"/>
              <a:t> Launch seasonal promo (</a:t>
            </a:r>
            <a:r>
              <a:rPr lang="en-IN" sz="1400" i="1" dirty="0"/>
              <a:t>Eco-Wave Summer Hydration</a:t>
            </a:r>
            <a:r>
              <a:rPr lang="en-IN" sz="1400" dirty="0"/>
              <a:t>), retarget past buyers with Sponsored Display + 10% off coupon.</a:t>
            </a:r>
          </a:p>
        </p:txBody>
      </p:sp>
      <p:sp>
        <p:nvSpPr>
          <p:cNvPr id="185" name="Google Shape;185;p34">
            <a:extLst>
              <a:ext uri="{FF2B5EF4-FFF2-40B4-BE49-F238E27FC236}">
                <a16:creationId xmlns:a16="http://schemas.microsoft.com/office/drawing/2014/main" id="{A6D84BD7-DA9F-12FA-6A91-016730C09822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613317" y="1843669"/>
            <a:ext cx="3586975" cy="24860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sz="1400" b="1" dirty="0"/>
              <a:t>Result:</a:t>
            </a:r>
            <a:r>
              <a:rPr lang="en-IN" sz="1400" dirty="0"/>
              <a:t> Reviews jumped </a:t>
            </a:r>
            <a:r>
              <a:rPr lang="en-IN" sz="1400" b="1" dirty="0"/>
              <a:t>20</a:t>
            </a:r>
            <a:r>
              <a:rPr lang="en-IN" sz="1400" dirty="0"/>
              <a:t> to </a:t>
            </a:r>
            <a:r>
              <a:rPr lang="en-IN" sz="1400" b="1" dirty="0"/>
              <a:t>75</a:t>
            </a:r>
            <a:r>
              <a:rPr lang="en-IN" sz="1400" dirty="0"/>
              <a:t>, </a:t>
            </a:r>
          </a:p>
          <a:p>
            <a:r>
              <a:rPr lang="en-IN" sz="1400" dirty="0"/>
              <a:t>       </a:t>
            </a:r>
            <a:r>
              <a:rPr lang="en-IN" sz="1400" dirty="0" err="1"/>
              <a:t>avg</a:t>
            </a:r>
            <a:r>
              <a:rPr lang="en-IN" sz="1400" dirty="0"/>
              <a:t> rating 4.3 stars. Positive on style, but 15% noted </a:t>
            </a:r>
          </a:p>
          <a:p>
            <a:r>
              <a:rPr lang="en-IN" sz="1400" b="1" dirty="0"/>
              <a:t>       cap tightness issue</a:t>
            </a:r>
            <a:r>
              <a:rPr lang="en-IN" sz="1400" dirty="0"/>
              <a:t>.</a:t>
            </a:r>
          </a:p>
          <a:p>
            <a:r>
              <a:rPr lang="en-IN" sz="1400" b="1" dirty="0"/>
              <a:t>Adjustment:</a:t>
            </a:r>
            <a:r>
              <a:rPr lang="en-IN" sz="1400" dirty="0"/>
              <a:t> Highlight “Improved Leak-Proof Cap” in listing. Use follow-up emails + packaging insert to request reviews from happy buyers.</a:t>
            </a:r>
          </a:p>
        </p:txBody>
      </p:sp>
      <p:sp>
        <p:nvSpPr>
          <p:cNvPr id="186" name="Google Shape;186;p34">
            <a:extLst>
              <a:ext uri="{FF2B5EF4-FFF2-40B4-BE49-F238E27FC236}">
                <a16:creationId xmlns:a16="http://schemas.microsoft.com/office/drawing/2014/main" id="{6E4FA678-01D5-32F6-37E8-4BDE04160940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758283" y="723544"/>
            <a:ext cx="2897515" cy="78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IN" dirty="0"/>
              <a:t>4. Reviews &amp; Engagement</a:t>
            </a:r>
            <a:endParaRPr dirty="0">
              <a:solidFill>
                <a:schemeClr val="tx1"/>
              </a:solidFill>
            </a:endParaRPr>
          </a:p>
        </p:txBody>
      </p:sp>
      <p:cxnSp>
        <p:nvCxnSpPr>
          <p:cNvPr id="187" name="Google Shape;187;p34">
            <a:extLst>
              <a:ext uri="{FF2B5EF4-FFF2-40B4-BE49-F238E27FC236}">
                <a16:creationId xmlns:a16="http://schemas.microsoft.com/office/drawing/2014/main" id="{9880DBBA-2537-4A28-779B-46934819F973}"/>
              </a:ext>
            </a:extLst>
          </p:cNvPr>
          <p:cNvCxnSpPr/>
          <p:nvPr/>
        </p:nvCxnSpPr>
        <p:spPr>
          <a:xfrm>
            <a:off x="-5300" y="835350"/>
            <a:ext cx="9182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8" name="Google Shape;188;p34">
            <a:extLst>
              <a:ext uri="{FF2B5EF4-FFF2-40B4-BE49-F238E27FC236}">
                <a16:creationId xmlns:a16="http://schemas.microsoft.com/office/drawing/2014/main" id="{45E792A2-3555-84A7-10DF-CB596E2192C0}"/>
              </a:ext>
            </a:extLst>
          </p:cNvPr>
          <p:cNvCxnSpPr/>
          <p:nvPr/>
        </p:nvCxnSpPr>
        <p:spPr>
          <a:xfrm>
            <a:off x="-38100" y="1723635"/>
            <a:ext cx="9182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Google Shape;186;p34">
            <a:extLst>
              <a:ext uri="{FF2B5EF4-FFF2-40B4-BE49-F238E27FC236}">
                <a16:creationId xmlns:a16="http://schemas.microsoft.com/office/drawing/2014/main" id="{B8E09910-383F-6023-A326-45DA994FF885}"/>
              </a:ext>
            </a:extLst>
          </p:cNvPr>
          <p:cNvSpPr txBox="1">
            <a:spLocks/>
          </p:cNvSpPr>
          <p:nvPr/>
        </p:nvSpPr>
        <p:spPr>
          <a:xfrm>
            <a:off x="5006340" y="723544"/>
            <a:ext cx="2897515" cy="7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en-IN" dirty="0"/>
              <a:t>5. Customer Retention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71908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>
          <a:extLst>
            <a:ext uri="{FF2B5EF4-FFF2-40B4-BE49-F238E27FC236}">
              <a16:creationId xmlns:a16="http://schemas.microsoft.com/office/drawing/2014/main" id="{D11E54F0-5D76-EF6D-CFE8-5AAEF21FB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6">
            <a:extLst>
              <a:ext uri="{FF2B5EF4-FFF2-40B4-BE49-F238E27FC236}">
                <a16:creationId xmlns:a16="http://schemas.microsoft.com/office/drawing/2014/main" id="{8EC6E943-4D18-9D24-0469-BC558EEDFF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7675" y="2531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Overall Impact</a:t>
            </a:r>
            <a:endParaRPr dirty="0"/>
          </a:p>
        </p:txBody>
      </p:sp>
      <p:sp>
        <p:nvSpPr>
          <p:cNvPr id="211" name="Google Shape;211;p36">
            <a:extLst>
              <a:ext uri="{FF2B5EF4-FFF2-40B4-BE49-F238E27FC236}">
                <a16:creationId xmlns:a16="http://schemas.microsoft.com/office/drawing/2014/main" id="{53C1E96F-1CA5-7495-7ABA-CEBCF11D1F9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995800" y="1256372"/>
            <a:ext cx="2788180" cy="13058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-IN" sz="1600" b="1" dirty="0" err="1"/>
              <a:t>ACoS</a:t>
            </a:r>
            <a:r>
              <a:rPr lang="en-IN" sz="1600" b="1" dirty="0"/>
              <a:t> reduced from 42% to 28% average</a:t>
            </a:r>
            <a:r>
              <a:rPr lang="en-IN" sz="1600" dirty="0"/>
              <a:t> by reallocating budget &amp; optimizing bids.</a:t>
            </a:r>
            <a:endParaRPr lang="en-US" sz="1600" dirty="0"/>
          </a:p>
        </p:txBody>
      </p:sp>
      <p:sp>
        <p:nvSpPr>
          <p:cNvPr id="213" name="Google Shape;213;p36">
            <a:extLst>
              <a:ext uri="{FF2B5EF4-FFF2-40B4-BE49-F238E27FC236}">
                <a16:creationId xmlns:a16="http://schemas.microsoft.com/office/drawing/2014/main" id="{8F509523-C5BF-39CC-89E5-D77DE65D667A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995799" y="3364251"/>
            <a:ext cx="2624629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-IN" sz="1600" dirty="0"/>
              <a:t>Visibility &amp; CTR has increased.</a:t>
            </a:r>
            <a:endParaRPr lang="en-US" sz="1600" dirty="0"/>
          </a:p>
        </p:txBody>
      </p:sp>
      <p:sp>
        <p:nvSpPr>
          <p:cNvPr id="218" name="Google Shape;218;p36">
            <a:extLst>
              <a:ext uri="{FF2B5EF4-FFF2-40B4-BE49-F238E27FC236}">
                <a16:creationId xmlns:a16="http://schemas.microsoft.com/office/drawing/2014/main" id="{975E5CCA-E2A7-7D25-09F2-E95EFC132E82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5640193" y="1285644"/>
            <a:ext cx="2788180" cy="13058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-IN" sz="1600" dirty="0"/>
              <a:t>Sales increased by </a:t>
            </a:r>
            <a:r>
              <a:rPr lang="en-IN" sz="1600" b="1" dirty="0"/>
              <a:t>66%</a:t>
            </a:r>
            <a:r>
              <a:rPr lang="en-IN" sz="1600" dirty="0"/>
              <a:t> (300 to 500 units).</a:t>
            </a:r>
            <a:endParaRPr lang="en-US" sz="1600" dirty="0"/>
          </a:p>
        </p:txBody>
      </p:sp>
      <p:sp>
        <p:nvSpPr>
          <p:cNvPr id="219" name="Google Shape;219;p36">
            <a:extLst>
              <a:ext uri="{FF2B5EF4-FFF2-40B4-BE49-F238E27FC236}">
                <a16:creationId xmlns:a16="http://schemas.microsoft.com/office/drawing/2014/main" id="{AE2C8E0F-3FED-86B9-CDD8-24C67F349DF9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5640193" y="3364251"/>
            <a:ext cx="279058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-IN" sz="1600" dirty="0"/>
              <a:t>Reviews &amp; trust improved, leading to stronger long-term ranking.</a:t>
            </a:r>
            <a:endParaRPr lang="en-US" sz="1600" dirty="0"/>
          </a:p>
        </p:txBody>
      </p:sp>
      <p:cxnSp>
        <p:nvCxnSpPr>
          <p:cNvPr id="223" name="Google Shape;223;p36">
            <a:extLst>
              <a:ext uri="{FF2B5EF4-FFF2-40B4-BE49-F238E27FC236}">
                <a16:creationId xmlns:a16="http://schemas.microsoft.com/office/drawing/2014/main" id="{AC95E2F2-9B85-EF5D-F437-AF11FB9065BE}"/>
              </a:ext>
            </a:extLst>
          </p:cNvPr>
          <p:cNvCxnSpPr/>
          <p:nvPr/>
        </p:nvCxnSpPr>
        <p:spPr>
          <a:xfrm>
            <a:off x="-5300" y="835350"/>
            <a:ext cx="9182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4" name="Google Shape;224;p36">
            <a:extLst>
              <a:ext uri="{FF2B5EF4-FFF2-40B4-BE49-F238E27FC236}">
                <a16:creationId xmlns:a16="http://schemas.microsoft.com/office/drawing/2014/main" id="{8B705D96-967D-C760-ED0F-B4992276785D}"/>
              </a:ext>
            </a:extLst>
          </p:cNvPr>
          <p:cNvCxnSpPr/>
          <p:nvPr/>
        </p:nvCxnSpPr>
        <p:spPr>
          <a:xfrm>
            <a:off x="-5300" y="2868100"/>
            <a:ext cx="9182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1492948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1"/>
          <p:cNvSpPr txBox="1">
            <a:spLocks noGrp="1"/>
          </p:cNvSpPr>
          <p:nvPr>
            <p:ph type="title"/>
          </p:nvPr>
        </p:nvSpPr>
        <p:spPr>
          <a:xfrm>
            <a:off x="119519" y="619617"/>
            <a:ext cx="5539500" cy="105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 YOU</a:t>
            </a:r>
            <a:endParaRPr dirty="0"/>
          </a:p>
        </p:txBody>
      </p:sp>
      <p:cxnSp>
        <p:nvCxnSpPr>
          <p:cNvPr id="323" name="Google Shape;323;p41"/>
          <p:cNvCxnSpPr/>
          <p:nvPr/>
        </p:nvCxnSpPr>
        <p:spPr>
          <a:xfrm>
            <a:off x="-19050" y="1580707"/>
            <a:ext cx="91821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4" name="Google Shape;324;p41"/>
          <p:cNvCxnSpPr/>
          <p:nvPr/>
        </p:nvCxnSpPr>
        <p:spPr>
          <a:xfrm>
            <a:off x="-5300" y="3412750"/>
            <a:ext cx="91821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44199F12-B2AE-CC65-A8C0-42DCA54319A0}"/>
              </a:ext>
            </a:extLst>
          </p:cNvPr>
          <p:cNvSpPr/>
          <p:nvPr/>
        </p:nvSpPr>
        <p:spPr>
          <a:xfrm>
            <a:off x="4326673" y="3620429"/>
            <a:ext cx="4497659" cy="115972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Google Shape;221;p36">
            <a:extLst>
              <a:ext uri="{FF2B5EF4-FFF2-40B4-BE49-F238E27FC236}">
                <a16:creationId xmlns:a16="http://schemas.microsoft.com/office/drawing/2014/main" id="{FC2D3352-6459-274F-EDC6-2D10E832A38D}"/>
              </a:ext>
            </a:extLst>
          </p:cNvPr>
          <p:cNvSpPr txBox="1">
            <a:spLocks/>
          </p:cNvSpPr>
          <p:nvPr/>
        </p:nvSpPr>
        <p:spPr>
          <a:xfrm>
            <a:off x="5501268" y="2507738"/>
            <a:ext cx="4096215" cy="191489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5800" dirty="0">
                <a:solidFill>
                  <a:schemeClr val="bg1"/>
                </a:solidFill>
                <a:latin typeface="Manrope" panose="020B0604020202020204" charset="0"/>
                <a:ea typeface="Open Sans"/>
                <a:cs typeface="Open Sans"/>
                <a:sym typeface="Open Sans"/>
              </a:rPr>
              <a:t>BY         NILESH .S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20BAF4-AA64-4858-C589-916CDE5061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80707"/>
            <a:ext cx="5344190" cy="356279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orporate Sustainability by Slidesgo">
  <a:themeElements>
    <a:clrScheme name="Simple Light">
      <a:dk1>
        <a:srgbClr val="2B3D2D"/>
      </a:dk1>
      <a:lt1>
        <a:srgbClr val="EBE8DE"/>
      </a:lt1>
      <a:dk2>
        <a:srgbClr val="365F3C"/>
      </a:dk2>
      <a:lt2>
        <a:srgbClr val="EEEEEE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B3D2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2024</TotalTime>
  <Words>1293</Words>
  <Application>Microsoft Office PowerPoint</Application>
  <PresentationFormat>On-screen Show (16:9)</PresentationFormat>
  <Paragraphs>151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Arial</vt:lpstr>
      <vt:lpstr>Anaheim</vt:lpstr>
      <vt:lpstr>Carattere</vt:lpstr>
      <vt:lpstr>PT Sans</vt:lpstr>
      <vt:lpstr>Nunito Light</vt:lpstr>
      <vt:lpstr>Manrope</vt:lpstr>
      <vt:lpstr>Raleway</vt:lpstr>
      <vt:lpstr>Open Sans</vt:lpstr>
      <vt:lpstr>Corporate Sustainability by Slidesgo</vt:lpstr>
      <vt:lpstr>Launching &amp;  Optimizing a  Product on  Amazon </vt:lpstr>
      <vt:lpstr>The Eco-Wave Story</vt:lpstr>
      <vt:lpstr>To protect the planet for future generations by providing high-quality, stylish stainless-steel bottles that reduce single-use plastics and make sustainable living easily by building a brand  on amazon.</vt:lpstr>
      <vt:lpstr>Key Values </vt:lpstr>
      <vt:lpstr>Key Product Features  </vt:lpstr>
      <vt:lpstr>Tasks </vt:lpstr>
      <vt:lpstr>Setup Amazon Seller Account &amp; Product listing </vt:lpstr>
      <vt:lpstr>Amazon  Algorithm  Knowledge </vt:lpstr>
      <vt:lpstr>Algorithm Knowledge</vt:lpstr>
      <vt:lpstr>Algorithm Knowledge</vt:lpstr>
      <vt:lpstr>Implement SEO techniques </vt:lpstr>
      <vt:lpstr>Click to view the amazon PPC Ad Campaign set up</vt:lpstr>
      <vt:lpstr>Bidding Strategies</vt:lpstr>
      <vt:lpstr>Bidding Strategies</vt:lpstr>
      <vt:lpstr>Review &amp; Customer Engagement Strategies</vt:lpstr>
      <vt:lpstr>Analyze performance &amp; make adjustments </vt:lpstr>
      <vt:lpstr>Analyze performance &amp; make adjustments </vt:lpstr>
      <vt:lpstr>Analyze performance &amp; make adjustments </vt:lpstr>
      <vt:lpstr>Overall Impact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nilesh sharma</cp:lastModifiedBy>
  <cp:revision>66</cp:revision>
  <dcterms:modified xsi:type="dcterms:W3CDTF">2026-06-25T15:02:43Z</dcterms:modified>
</cp:coreProperties>
</file>