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264" r:id="rId3"/>
    <p:sldId id="257" r:id="rId4"/>
    <p:sldId id="265" r:id="rId5"/>
    <p:sldId id="266" r:id="rId6"/>
    <p:sldId id="314" r:id="rId7"/>
    <p:sldId id="263" r:id="rId8"/>
    <p:sldId id="260" r:id="rId9"/>
    <p:sldId id="262" r:id="rId10"/>
    <p:sldId id="267" r:id="rId11"/>
    <p:sldId id="259" r:id="rId12"/>
    <p:sldId id="272" r:id="rId13"/>
    <p:sldId id="276" r:id="rId14"/>
    <p:sldId id="258" r:id="rId15"/>
    <p:sldId id="315" r:id="rId16"/>
    <p:sldId id="313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Medium" pitchFamily="2" charset="0"/>
      <p:regular r:id="rId24"/>
      <p:bold r:id="rId25"/>
      <p:italic r:id="rId26"/>
      <p:boldItalic r:id="rId27"/>
    </p:embeddedFont>
    <p:embeddedFont>
      <p:font typeface="Fugaz One" panose="020B0604020202020204" charset="0"/>
      <p:regular r:id="rId28"/>
    </p:embeddedFont>
    <p:embeddedFont>
      <p:font typeface="Nunito Light" pitchFamily="2" charset="0"/>
      <p:regular r:id="rId29"/>
      <p:italic r:id="rId30"/>
    </p:embeddedFont>
    <p:embeddedFont>
      <p:font typeface="Unbounded" panose="020B0604020202020204" charset="0"/>
      <p:regular r:id="rId31"/>
      <p:bold r:id="rId32"/>
    </p:embeddedFont>
    <p:embeddedFont>
      <p:font typeface="Unbounded Black" panose="020B0604020202020204" charset="0"/>
      <p:bold r:id="rId33"/>
    </p:embeddedFont>
    <p:embeddedFont>
      <p:font typeface="Unbounded SemiBol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C3F7A4-D726-4686-8426-C8540F927F11}">
  <a:tblStyle styleId="{C3C3F7A4-D726-4686-8426-C8540F927F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9bf945a62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29bf945a62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eb67c6d87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6" name="Google Shape;326;g1eb67c6d87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b6374a404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9" name="Google Shape;239;g29b6374a404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b67c6d87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35" name="Google Shape;335;g1eb67c6d87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eb67c6d87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46" name="Google Shape;346;g1eb67c6d87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32DF605F-C3AE-59D2-77F7-80A348AC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eb67c6d87f_0_144:notes">
            <a:extLst>
              <a:ext uri="{FF2B5EF4-FFF2-40B4-BE49-F238E27FC236}">
                <a16:creationId xmlns:a16="http://schemas.microsoft.com/office/drawing/2014/main" id="{8F4EF0E2-8BF1-1642-E0E2-BA7CCB50E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6" name="Google Shape;326;g1eb67c6d87f_0_144:notes">
            <a:extLst>
              <a:ext uri="{FF2B5EF4-FFF2-40B4-BE49-F238E27FC236}">
                <a16:creationId xmlns:a16="http://schemas.microsoft.com/office/drawing/2014/main" id="{DA48E2DD-4B9F-CE8B-D3DA-1E398F2F2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269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eb67c6d87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8" name="Google Shape;318;g1eb67c6d87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eb67c6d87f_0_28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7" name="Google Shape;277;g1eb67c6d87f_0_28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b6374a404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1" name="Google Shape;311;g29b6374a404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eb67c6d87f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0" name="Google Shape;360;g1eb67c6d87f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9b6374a40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8" name="Google Shape;268;g29b6374a404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b67c6d87f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2" name="Google Shape;422;g1eb67c6d87f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b67c6d87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57" name="Google Shape;457;g1eb67c6d87f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bf945a6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8" name="Google Shape;248;g29bf945a62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E354C55-24FB-4806-C510-9B6DEF85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bf945a624_0_10:notes">
            <a:extLst>
              <a:ext uri="{FF2B5EF4-FFF2-40B4-BE49-F238E27FC236}">
                <a16:creationId xmlns:a16="http://schemas.microsoft.com/office/drawing/2014/main" id="{9F864634-DB9F-D197-3EC3-6408D5EA3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8" name="Google Shape;248;g29bf945a624_0_10:notes">
            <a:extLst>
              <a:ext uri="{FF2B5EF4-FFF2-40B4-BE49-F238E27FC236}">
                <a16:creationId xmlns:a16="http://schemas.microsoft.com/office/drawing/2014/main" id="{2528FE26-66A1-FE58-0385-ECE90D319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928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9E3F554F-AA0C-6C70-DE87-3238D117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b67c6d87f_0_232:notes">
            <a:extLst>
              <a:ext uri="{FF2B5EF4-FFF2-40B4-BE49-F238E27FC236}">
                <a16:creationId xmlns:a16="http://schemas.microsoft.com/office/drawing/2014/main" id="{ECDDEC94-7FB0-78A0-BA83-90053316D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2" name="Google Shape;422;g1eb67c6d87f_0_232:notes">
            <a:extLst>
              <a:ext uri="{FF2B5EF4-FFF2-40B4-BE49-F238E27FC236}">
                <a16:creationId xmlns:a16="http://schemas.microsoft.com/office/drawing/2014/main" id="{FB3D32D8-2AAC-D714-0C17-50550251D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8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86950" y="984525"/>
            <a:ext cx="4825500" cy="25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Unbounded Black"/>
                <a:ea typeface="Unbounded Black"/>
                <a:cs typeface="Unbounded Black"/>
                <a:sym typeface="Unbounded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23600" y="3621875"/>
            <a:ext cx="3952200" cy="433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346175" y="0"/>
            <a:ext cx="3846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l="61170" t="43968"/>
          <a:stretch/>
        </p:blipFill>
        <p:spPr>
          <a:xfrm>
            <a:off x="-4" y="0"/>
            <a:ext cx="2760049" cy="288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86888"/>
            <a:ext cx="7704000" cy="3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l="21299" t="9893" r="23565" b="66638"/>
          <a:stretch/>
        </p:blipFill>
        <p:spPr>
          <a:xfrm flipH="1">
            <a:off x="-2" y="3936375"/>
            <a:ext cx="3919252" cy="12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l="21299" t="9893" r="23565" b="66638"/>
          <a:stretch/>
        </p:blipFill>
        <p:spPr>
          <a:xfrm>
            <a:off x="5224748" y="3936375"/>
            <a:ext cx="3919252" cy="12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3927025" y="1643750"/>
            <a:ext cx="43923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0" y="1335300"/>
            <a:ext cx="3808200" cy="380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l="-944" t="45310" r="69595" b="34102"/>
          <a:stretch/>
        </p:blipFill>
        <p:spPr>
          <a:xfrm>
            <a:off x="7367375" y="0"/>
            <a:ext cx="1824676" cy="86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4216425" y="1482450"/>
            <a:ext cx="3880500" cy="10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4216425" y="2652450"/>
            <a:ext cx="3880500" cy="1008600"/>
          </a:xfrm>
          <a:prstGeom prst="rect">
            <a:avLst/>
          </a:prstGeom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 flipH="1">
            <a:off x="100" y="0"/>
            <a:ext cx="41478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47" name="Google Shape;47;p9"/>
          <p:cNvPicPr preferRelativeResize="0"/>
          <p:nvPr/>
        </p:nvPicPr>
        <p:blipFill rotWithShape="1">
          <a:blip r:embed="rId2">
            <a:alphaModFix/>
          </a:blip>
          <a:srcRect l="58576" t="53779" r="2594" b="-9811"/>
          <a:stretch/>
        </p:blipFill>
        <p:spPr>
          <a:xfrm flipH="1">
            <a:off x="6432001" y="0"/>
            <a:ext cx="2760049" cy="288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-6650" y="-6650"/>
            <a:ext cx="91506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720000" y="4133300"/>
            <a:ext cx="7704000" cy="453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nbounded Black"/>
                <a:ea typeface="Unbounded Black"/>
                <a:cs typeface="Unbounded Black"/>
                <a:sym typeface="Unbounde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713225" y="2350821"/>
            <a:ext cx="24510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2"/>
          </p:nvPr>
        </p:nvSpPr>
        <p:spPr>
          <a:xfrm>
            <a:off x="3339710" y="2350821"/>
            <a:ext cx="24510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3"/>
          </p:nvPr>
        </p:nvSpPr>
        <p:spPr>
          <a:xfrm>
            <a:off x="2026470" y="4089198"/>
            <a:ext cx="24510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4"/>
          </p:nvPr>
        </p:nvSpPr>
        <p:spPr>
          <a:xfrm>
            <a:off x="4652955" y="4089198"/>
            <a:ext cx="24510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5"/>
          </p:nvPr>
        </p:nvSpPr>
        <p:spPr>
          <a:xfrm>
            <a:off x="5966199" y="2350821"/>
            <a:ext cx="24510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1548156" y="1179825"/>
            <a:ext cx="781200" cy="51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2861414" y="2918227"/>
            <a:ext cx="781200" cy="51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8" hasCustomPrompt="1"/>
          </p:nvPr>
        </p:nvSpPr>
        <p:spPr>
          <a:xfrm>
            <a:off x="4174642" y="1179825"/>
            <a:ext cx="781200" cy="51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9" hasCustomPrompt="1"/>
          </p:nvPr>
        </p:nvSpPr>
        <p:spPr>
          <a:xfrm>
            <a:off x="5487880" y="2918227"/>
            <a:ext cx="781200" cy="51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3" hasCustomPrompt="1"/>
          </p:nvPr>
        </p:nvSpPr>
        <p:spPr>
          <a:xfrm>
            <a:off x="6801131" y="1179825"/>
            <a:ext cx="781200" cy="51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4"/>
          </p:nvPr>
        </p:nvSpPr>
        <p:spPr>
          <a:xfrm>
            <a:off x="713225" y="1776337"/>
            <a:ext cx="2451000" cy="6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5"/>
          </p:nvPr>
        </p:nvSpPr>
        <p:spPr>
          <a:xfrm>
            <a:off x="3339711" y="1776337"/>
            <a:ext cx="2451000" cy="6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6"/>
          </p:nvPr>
        </p:nvSpPr>
        <p:spPr>
          <a:xfrm>
            <a:off x="5966200" y="1776337"/>
            <a:ext cx="2451000" cy="6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7"/>
          </p:nvPr>
        </p:nvSpPr>
        <p:spPr>
          <a:xfrm>
            <a:off x="2026483" y="3514631"/>
            <a:ext cx="2451000" cy="6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8"/>
          </p:nvPr>
        </p:nvSpPr>
        <p:spPr>
          <a:xfrm>
            <a:off x="4652955" y="3514631"/>
            <a:ext cx="2451000" cy="6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Unbounded SemiBold"/>
                <a:ea typeface="Unbounded SemiBold"/>
                <a:cs typeface="Unbounded SemiBold"/>
                <a:sym typeface="Unbound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4" name="Google Shape;74;p13"/>
          <p:cNvGrpSpPr/>
          <p:nvPr/>
        </p:nvGrpSpPr>
        <p:grpSpPr>
          <a:xfrm>
            <a:off x="0" y="0"/>
            <a:ext cx="9192051" cy="5143501"/>
            <a:chOff x="0" y="0"/>
            <a:chExt cx="9192051" cy="5143501"/>
          </a:xfrm>
        </p:grpSpPr>
        <p:pic>
          <p:nvPicPr>
            <p:cNvPr id="75" name="Google Shape;75;p13"/>
            <p:cNvPicPr preferRelativeResize="0"/>
            <p:nvPr/>
          </p:nvPicPr>
          <p:blipFill rotWithShape="1">
            <a:blip r:embed="rId2">
              <a:alphaModFix/>
            </a:blip>
            <a:srcRect l="-944" t="45310" r="69595" b="34102"/>
            <a:stretch/>
          </p:blipFill>
          <p:spPr>
            <a:xfrm flipH="1">
              <a:off x="0" y="0"/>
              <a:ext cx="1824676" cy="867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3"/>
            <p:cNvPicPr preferRelativeResize="0"/>
            <p:nvPr/>
          </p:nvPicPr>
          <p:blipFill rotWithShape="1">
            <a:blip r:embed="rId2">
              <a:alphaModFix/>
            </a:blip>
            <a:srcRect l="34652" t="-6092" r="30866" b="76198"/>
            <a:stretch/>
          </p:blipFill>
          <p:spPr>
            <a:xfrm flipH="1">
              <a:off x="6741051" y="3605900"/>
              <a:ext cx="2451000" cy="1537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2" name="Google Shape;102;p19"/>
          <p:cNvGrpSpPr/>
          <p:nvPr/>
        </p:nvGrpSpPr>
        <p:grpSpPr>
          <a:xfrm rot="10800000">
            <a:off x="-1" y="0"/>
            <a:ext cx="9192051" cy="5143502"/>
            <a:chOff x="-1" y="0"/>
            <a:chExt cx="9192051" cy="5143502"/>
          </a:xfrm>
        </p:grpSpPr>
        <p:pic>
          <p:nvPicPr>
            <p:cNvPr id="103" name="Google Shape;103;p19"/>
            <p:cNvPicPr preferRelativeResize="0"/>
            <p:nvPr/>
          </p:nvPicPr>
          <p:blipFill rotWithShape="1">
            <a:blip r:embed="rId2">
              <a:alphaModFix/>
            </a:blip>
            <a:srcRect l="17188" t="15441" r="36918" b="64733"/>
            <a:stretch/>
          </p:blipFill>
          <p:spPr>
            <a:xfrm>
              <a:off x="6520700" y="4308450"/>
              <a:ext cx="2671350" cy="83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9"/>
            <p:cNvPicPr preferRelativeResize="0"/>
            <p:nvPr/>
          </p:nvPicPr>
          <p:blipFill rotWithShape="1">
            <a:blip r:embed="rId2">
              <a:alphaModFix/>
            </a:blip>
            <a:srcRect l="59590" t="61488" r="14089" b="14683"/>
            <a:stretch/>
          </p:blipFill>
          <p:spPr>
            <a:xfrm>
              <a:off x="-1" y="0"/>
              <a:ext cx="1870848" cy="1225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1"/>
          </p:nvPr>
        </p:nvSpPr>
        <p:spPr>
          <a:xfrm>
            <a:off x="4966827" y="2580599"/>
            <a:ext cx="28179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2"/>
          </p:nvPr>
        </p:nvSpPr>
        <p:spPr>
          <a:xfrm>
            <a:off x="1359275" y="2580599"/>
            <a:ext cx="28179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subTitle" idx="3"/>
          </p:nvPr>
        </p:nvSpPr>
        <p:spPr>
          <a:xfrm>
            <a:off x="1359275" y="2092975"/>
            <a:ext cx="2817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4"/>
          </p:nvPr>
        </p:nvSpPr>
        <p:spPr>
          <a:xfrm>
            <a:off x="4966830" y="2092975"/>
            <a:ext cx="2817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 rotWithShape="1">
          <a:blip r:embed="rId2">
            <a:alphaModFix/>
          </a:blip>
          <a:srcRect l="21299" t="9893" r="23565" b="66638"/>
          <a:stretch/>
        </p:blipFill>
        <p:spPr>
          <a:xfrm>
            <a:off x="5224748" y="3936375"/>
            <a:ext cx="3919252" cy="120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 rotWithShape="1">
          <a:blip r:embed="rId2">
            <a:alphaModFix/>
          </a:blip>
          <a:srcRect l="86873" t="34455" r="758" b="43122"/>
          <a:stretch/>
        </p:blipFill>
        <p:spPr>
          <a:xfrm>
            <a:off x="-2" y="0"/>
            <a:ext cx="879201" cy="11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1"/>
          </p:nvPr>
        </p:nvSpPr>
        <p:spPr>
          <a:xfrm>
            <a:off x="4839646" y="1634925"/>
            <a:ext cx="3268200" cy="27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2"/>
          </p:nvPr>
        </p:nvSpPr>
        <p:spPr>
          <a:xfrm>
            <a:off x="1036154" y="1634925"/>
            <a:ext cx="3268200" cy="27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9" name="Google Shape;149;p27"/>
          <p:cNvGrpSpPr/>
          <p:nvPr/>
        </p:nvGrpSpPr>
        <p:grpSpPr>
          <a:xfrm>
            <a:off x="-1" y="0"/>
            <a:ext cx="9192051" cy="5143502"/>
            <a:chOff x="-1" y="0"/>
            <a:chExt cx="9192051" cy="5143502"/>
          </a:xfrm>
        </p:grpSpPr>
        <p:pic>
          <p:nvPicPr>
            <p:cNvPr id="150" name="Google Shape;150;p27"/>
            <p:cNvPicPr preferRelativeResize="0"/>
            <p:nvPr/>
          </p:nvPicPr>
          <p:blipFill rotWithShape="1">
            <a:blip r:embed="rId2">
              <a:alphaModFix/>
            </a:blip>
            <a:srcRect l="17188" t="15441" r="36918" b="64733"/>
            <a:stretch/>
          </p:blipFill>
          <p:spPr>
            <a:xfrm>
              <a:off x="6520700" y="4308450"/>
              <a:ext cx="2671350" cy="83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7"/>
            <p:cNvPicPr preferRelativeResize="0"/>
            <p:nvPr/>
          </p:nvPicPr>
          <p:blipFill rotWithShape="1">
            <a:blip r:embed="rId2">
              <a:alphaModFix/>
            </a:blip>
            <a:srcRect l="59590" t="61488" r="14089" b="14683"/>
            <a:stretch/>
          </p:blipFill>
          <p:spPr>
            <a:xfrm>
              <a:off x="-1" y="0"/>
              <a:ext cx="1870848" cy="1225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ubTitle" idx="1"/>
          </p:nvPr>
        </p:nvSpPr>
        <p:spPr>
          <a:xfrm>
            <a:off x="2225099" y="1765889"/>
            <a:ext cx="2221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subTitle" idx="2"/>
          </p:nvPr>
        </p:nvSpPr>
        <p:spPr>
          <a:xfrm>
            <a:off x="2225097" y="3653577"/>
            <a:ext cx="2221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subTitle" idx="3"/>
          </p:nvPr>
        </p:nvSpPr>
        <p:spPr>
          <a:xfrm>
            <a:off x="4697102" y="2709739"/>
            <a:ext cx="2221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subTitle" idx="4"/>
          </p:nvPr>
        </p:nvSpPr>
        <p:spPr>
          <a:xfrm>
            <a:off x="2225099" y="1311313"/>
            <a:ext cx="2221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subTitle" idx="5"/>
          </p:nvPr>
        </p:nvSpPr>
        <p:spPr>
          <a:xfrm>
            <a:off x="2225101" y="3199000"/>
            <a:ext cx="2221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subTitle" idx="6"/>
          </p:nvPr>
        </p:nvSpPr>
        <p:spPr>
          <a:xfrm>
            <a:off x="4697103" y="2255163"/>
            <a:ext cx="2221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grpSp>
        <p:nvGrpSpPr>
          <p:cNvPr id="167" name="Google Shape;167;p29"/>
          <p:cNvGrpSpPr/>
          <p:nvPr/>
        </p:nvGrpSpPr>
        <p:grpSpPr>
          <a:xfrm rot="10800000" flipH="1">
            <a:off x="0" y="0"/>
            <a:ext cx="9192051" cy="5143501"/>
            <a:chOff x="0" y="0"/>
            <a:chExt cx="9192051" cy="5143501"/>
          </a:xfrm>
        </p:grpSpPr>
        <p:pic>
          <p:nvPicPr>
            <p:cNvPr id="168" name="Google Shape;168;p29"/>
            <p:cNvPicPr preferRelativeResize="0"/>
            <p:nvPr/>
          </p:nvPicPr>
          <p:blipFill rotWithShape="1">
            <a:blip r:embed="rId2">
              <a:alphaModFix/>
            </a:blip>
            <a:srcRect l="-944" t="45310" r="69595" b="34102"/>
            <a:stretch/>
          </p:blipFill>
          <p:spPr>
            <a:xfrm flipH="1">
              <a:off x="0" y="0"/>
              <a:ext cx="1824676" cy="867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9"/>
            <p:cNvPicPr preferRelativeResize="0"/>
            <p:nvPr/>
          </p:nvPicPr>
          <p:blipFill rotWithShape="1">
            <a:blip r:embed="rId2">
              <a:alphaModFix/>
            </a:blip>
            <a:srcRect l="34652" t="-6092" r="30866" b="76198"/>
            <a:stretch/>
          </p:blipFill>
          <p:spPr>
            <a:xfrm flipH="1">
              <a:off x="6741051" y="3605900"/>
              <a:ext cx="2451000" cy="1537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subTitle" idx="1"/>
          </p:nvPr>
        </p:nvSpPr>
        <p:spPr>
          <a:xfrm>
            <a:off x="720006" y="19973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subTitle" idx="2"/>
          </p:nvPr>
        </p:nvSpPr>
        <p:spPr>
          <a:xfrm>
            <a:off x="6445785" y="204542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subTitle" idx="3"/>
          </p:nvPr>
        </p:nvSpPr>
        <p:spPr>
          <a:xfrm>
            <a:off x="720006" y="34307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4"/>
          </p:nvPr>
        </p:nvSpPr>
        <p:spPr>
          <a:xfrm>
            <a:off x="6445785" y="347882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subTitle" idx="5"/>
          </p:nvPr>
        </p:nvSpPr>
        <p:spPr>
          <a:xfrm>
            <a:off x="720019" y="1602525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ubTitle" idx="6"/>
          </p:nvPr>
        </p:nvSpPr>
        <p:spPr>
          <a:xfrm>
            <a:off x="720019" y="3035925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7"/>
          </p:nvPr>
        </p:nvSpPr>
        <p:spPr>
          <a:xfrm>
            <a:off x="6445794" y="1650600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8"/>
          </p:nvPr>
        </p:nvSpPr>
        <p:spPr>
          <a:xfrm>
            <a:off x="6445794" y="3084000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grpSp>
        <p:nvGrpSpPr>
          <p:cNvPr id="180" name="Google Shape;180;p30"/>
          <p:cNvGrpSpPr/>
          <p:nvPr/>
        </p:nvGrpSpPr>
        <p:grpSpPr>
          <a:xfrm flipH="1">
            <a:off x="-1" y="0"/>
            <a:ext cx="9192048" cy="5143500"/>
            <a:chOff x="-1" y="0"/>
            <a:chExt cx="9192048" cy="5143500"/>
          </a:xfrm>
        </p:grpSpPr>
        <p:pic>
          <p:nvPicPr>
            <p:cNvPr id="181" name="Google Shape;181;p30"/>
            <p:cNvPicPr preferRelativeResize="0"/>
            <p:nvPr/>
          </p:nvPicPr>
          <p:blipFill rotWithShape="1">
            <a:blip r:embed="rId2">
              <a:alphaModFix/>
            </a:blip>
            <a:srcRect l="23055" t="10175" r="27713" b="68139"/>
            <a:stretch/>
          </p:blipFill>
          <p:spPr>
            <a:xfrm rot="10800000" flipH="1">
              <a:off x="6326450" y="0"/>
              <a:ext cx="2865597" cy="91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30"/>
            <p:cNvPicPr preferRelativeResize="0"/>
            <p:nvPr/>
          </p:nvPicPr>
          <p:blipFill rotWithShape="1">
            <a:blip r:embed="rId2">
              <a:alphaModFix/>
            </a:blip>
            <a:srcRect l="61168" t="55719" r="9918" b="15700"/>
            <a:stretch/>
          </p:blipFill>
          <p:spPr>
            <a:xfrm rot="10800000" flipH="1">
              <a:off x="-1" y="3673449"/>
              <a:ext cx="2055224" cy="147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30"/>
          <p:cNvSpPr>
            <a:spLocks noGrp="1"/>
          </p:cNvSpPr>
          <p:nvPr>
            <p:ph type="pic" idx="9"/>
          </p:nvPr>
        </p:nvSpPr>
        <p:spPr>
          <a:xfrm>
            <a:off x="3133763" y="1376025"/>
            <a:ext cx="2876400" cy="3767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subTitle" idx="1"/>
          </p:nvPr>
        </p:nvSpPr>
        <p:spPr>
          <a:xfrm>
            <a:off x="842530" y="2128721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1"/>
          <p:cNvSpPr txBox="1">
            <a:spLocks noGrp="1"/>
          </p:cNvSpPr>
          <p:nvPr>
            <p:ph type="subTitle" idx="2"/>
          </p:nvPr>
        </p:nvSpPr>
        <p:spPr>
          <a:xfrm>
            <a:off x="3506672" y="2128721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subTitle" idx="3"/>
          </p:nvPr>
        </p:nvSpPr>
        <p:spPr>
          <a:xfrm>
            <a:off x="842530" y="3409725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subTitle" idx="4"/>
          </p:nvPr>
        </p:nvSpPr>
        <p:spPr>
          <a:xfrm>
            <a:off x="3506672" y="3409725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subTitle" idx="5"/>
          </p:nvPr>
        </p:nvSpPr>
        <p:spPr>
          <a:xfrm>
            <a:off x="6170813" y="2128721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1"/>
          <p:cNvSpPr txBox="1">
            <a:spLocks noGrp="1"/>
          </p:cNvSpPr>
          <p:nvPr>
            <p:ph type="subTitle" idx="6"/>
          </p:nvPr>
        </p:nvSpPr>
        <p:spPr>
          <a:xfrm>
            <a:off x="6170813" y="3409725"/>
            <a:ext cx="21306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subTitle" idx="7"/>
          </p:nvPr>
        </p:nvSpPr>
        <p:spPr>
          <a:xfrm>
            <a:off x="840913" y="1684750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subTitle" idx="8"/>
          </p:nvPr>
        </p:nvSpPr>
        <p:spPr>
          <a:xfrm>
            <a:off x="3505054" y="1684750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subTitle" idx="9"/>
          </p:nvPr>
        </p:nvSpPr>
        <p:spPr>
          <a:xfrm>
            <a:off x="6169195" y="1684750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subTitle" idx="13"/>
          </p:nvPr>
        </p:nvSpPr>
        <p:spPr>
          <a:xfrm>
            <a:off x="840913" y="2964526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subTitle" idx="14"/>
          </p:nvPr>
        </p:nvSpPr>
        <p:spPr>
          <a:xfrm>
            <a:off x="3505054" y="2964526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subTitle" idx="15"/>
          </p:nvPr>
        </p:nvSpPr>
        <p:spPr>
          <a:xfrm>
            <a:off x="6169195" y="2964526"/>
            <a:ext cx="21339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17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gaz One"/>
              <a:buNone/>
              <a:defRPr sz="2400"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grpSp>
        <p:nvGrpSpPr>
          <p:cNvPr id="198" name="Google Shape;198;p31"/>
          <p:cNvGrpSpPr/>
          <p:nvPr/>
        </p:nvGrpSpPr>
        <p:grpSpPr>
          <a:xfrm flipH="1">
            <a:off x="0" y="0"/>
            <a:ext cx="9192051" cy="5143501"/>
            <a:chOff x="0" y="0"/>
            <a:chExt cx="9192051" cy="5143501"/>
          </a:xfrm>
        </p:grpSpPr>
        <p:pic>
          <p:nvPicPr>
            <p:cNvPr id="199" name="Google Shape;199;p31"/>
            <p:cNvPicPr preferRelativeResize="0"/>
            <p:nvPr/>
          </p:nvPicPr>
          <p:blipFill rotWithShape="1">
            <a:blip r:embed="rId2">
              <a:alphaModFix/>
            </a:blip>
            <a:srcRect l="-944" t="45310" r="69595" b="34102"/>
            <a:stretch/>
          </p:blipFill>
          <p:spPr>
            <a:xfrm flipH="1">
              <a:off x="0" y="0"/>
              <a:ext cx="1824676" cy="867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1"/>
            <p:cNvPicPr preferRelativeResize="0"/>
            <p:nvPr/>
          </p:nvPicPr>
          <p:blipFill rotWithShape="1">
            <a:blip r:embed="rId2">
              <a:alphaModFix/>
            </a:blip>
            <a:srcRect l="44528" t="-8063" r="20990" b="78168"/>
            <a:stretch/>
          </p:blipFill>
          <p:spPr>
            <a:xfrm flipH="1">
              <a:off x="6741051" y="3605900"/>
              <a:ext cx="2451000" cy="1537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4"/>
          <p:cNvPicPr preferRelativeResize="0"/>
          <p:nvPr/>
        </p:nvPicPr>
        <p:blipFill rotWithShape="1">
          <a:blip r:embed="rId2">
            <a:alphaModFix/>
          </a:blip>
          <a:srcRect l="23055" t="10175" r="27713" b="68139"/>
          <a:stretch/>
        </p:blipFill>
        <p:spPr>
          <a:xfrm>
            <a:off x="6326450" y="4230125"/>
            <a:ext cx="2865597" cy="91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2">
            <a:alphaModFix/>
          </a:blip>
          <a:srcRect l="61170" t="43968"/>
          <a:stretch/>
        </p:blipFill>
        <p:spPr>
          <a:xfrm>
            <a:off x="-4" y="0"/>
            <a:ext cx="2760049" cy="288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 rotWithShape="1">
          <a:blip r:embed="rId2">
            <a:alphaModFix/>
          </a:blip>
          <a:srcRect l="21299" t="9893" r="23565" b="66638"/>
          <a:stretch/>
        </p:blipFill>
        <p:spPr>
          <a:xfrm flipH="1">
            <a:off x="-2" y="3936375"/>
            <a:ext cx="3919252" cy="12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bounded"/>
              <a:buNone/>
              <a:defRPr sz="30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ugaz One"/>
              <a:buNone/>
              <a:defRPr sz="35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5" r:id="rId9"/>
    <p:sldLayoutId id="2147483672" r:id="rId10"/>
    <p:sldLayoutId id="2147483673" r:id="rId11"/>
    <p:sldLayoutId id="2147483675" r:id="rId12"/>
    <p:sldLayoutId id="2147483676" r:id="rId13"/>
    <p:sldLayoutId id="2147483677" r:id="rId14"/>
    <p:sldLayoutId id="2147483680" r:id="rId15"/>
    <p:sldLayoutId id="214748368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Search%20ads.doc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hyperlink" Target="Display%20Ads.doc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hyperlink" Target="Youtube%20ads.docx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>
            <a:spLocks noGrp="1"/>
          </p:cNvSpPr>
          <p:nvPr>
            <p:ph type="subTitle" idx="1"/>
          </p:nvPr>
        </p:nvSpPr>
        <p:spPr>
          <a:xfrm>
            <a:off x="1252278" y="3647215"/>
            <a:ext cx="39522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G</a:t>
            </a:r>
            <a:r>
              <a:rPr lang="en" dirty="0"/>
              <a:t>uided by Chhavi Patel Ma’am</a:t>
            </a:r>
            <a:endParaRPr dirty="0"/>
          </a:p>
        </p:txBody>
      </p:sp>
      <p:pic>
        <p:nvPicPr>
          <p:cNvPr id="232" name="Google Shape;232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31" t="23518" r="12269"/>
          <a:stretch/>
        </p:blipFill>
        <p:spPr>
          <a:xfrm>
            <a:off x="5298126" y="0"/>
            <a:ext cx="3845874" cy="5143501"/>
          </a:xfrm>
          <a:prstGeom prst="rect">
            <a:avLst/>
          </a:prstGeom>
        </p:spPr>
      </p:pic>
      <p:pic>
        <p:nvPicPr>
          <p:cNvPr id="234" name="Google Shape;234;p39"/>
          <p:cNvPicPr preferRelativeResize="0"/>
          <p:nvPr/>
        </p:nvPicPr>
        <p:blipFill rotWithShape="1">
          <a:blip r:embed="rId4">
            <a:alphaModFix/>
          </a:blip>
          <a:srcRect l="23055" t="10175" r="27713" b="68139"/>
          <a:stretch/>
        </p:blipFill>
        <p:spPr>
          <a:xfrm>
            <a:off x="6326450" y="4230125"/>
            <a:ext cx="2865597" cy="91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/>
          <p:cNvPicPr preferRelativeResize="0"/>
          <p:nvPr/>
        </p:nvPicPr>
        <p:blipFill rotWithShape="1">
          <a:blip r:embed="rId5">
            <a:alphaModFix/>
          </a:blip>
          <a:srcRect l="9471" t="10418" r="60785"/>
          <a:stretch/>
        </p:blipFill>
        <p:spPr>
          <a:xfrm rot="10800000">
            <a:off x="5252526" y="-1"/>
            <a:ext cx="256997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>
            <a:spLocks noGrp="1"/>
          </p:cNvSpPr>
          <p:nvPr>
            <p:ph type="ctrTitle"/>
          </p:nvPr>
        </p:nvSpPr>
        <p:spPr>
          <a:xfrm>
            <a:off x="-62346" y="1063085"/>
            <a:ext cx="6837218" cy="25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latin typeface="Unbounded" panose="020B0604020202020204" charset="0"/>
              </a:rPr>
              <a:t>P</a:t>
            </a:r>
            <a:r>
              <a:rPr lang="en" sz="3600" dirty="0">
                <a:latin typeface="Unbounded" panose="020B0604020202020204" charset="0"/>
              </a:rPr>
              <a:t>romoting Products on the </a:t>
            </a:r>
            <a:r>
              <a:rPr lang="en" sz="3600" dirty="0">
                <a:solidFill>
                  <a:schemeClr val="dk2"/>
                </a:solidFill>
                <a:latin typeface="Unbounded" panose="020B0604020202020204" charset="0"/>
              </a:rPr>
              <a:t>Google Ecosystem </a:t>
            </a:r>
            <a:endParaRPr sz="3600" dirty="0">
              <a:solidFill>
                <a:schemeClr val="dk2"/>
              </a:solidFill>
              <a:latin typeface="Unbounde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D8034-053B-5F78-0B0F-699BD8DA6FA7}"/>
              </a:ext>
            </a:extLst>
          </p:cNvPr>
          <p:cNvSpPr txBox="1"/>
          <p:nvPr/>
        </p:nvSpPr>
        <p:spPr>
          <a:xfrm>
            <a:off x="2251363" y="1521401"/>
            <a:ext cx="2209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Course4_Sprint9_Project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</a:t>
            </a:r>
            <a:r>
              <a:rPr lang="en" dirty="0"/>
              <a:t>ntroduction </a:t>
            </a:r>
            <a:endParaRPr dirty="0"/>
          </a:p>
        </p:txBody>
      </p:sp>
      <p:sp>
        <p:nvSpPr>
          <p:cNvPr id="329" name="Google Shape;329;p47"/>
          <p:cNvSpPr txBox="1">
            <a:spLocks noGrp="1"/>
          </p:cNvSpPr>
          <p:nvPr>
            <p:ph type="subTitle" idx="1"/>
          </p:nvPr>
        </p:nvSpPr>
        <p:spPr>
          <a:xfrm>
            <a:off x="720000" y="3458770"/>
            <a:ext cx="7438393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</a:t>
            </a:r>
            <a:r>
              <a:rPr lang="en" dirty="0"/>
              <a:t>ncrease the brand awareness and accelerate buisness growth by using paid marketing on google and youtube focus points are the quality, comfort and style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</a:t>
            </a:r>
            <a:r>
              <a:rPr lang="en" dirty="0"/>
              <a:t>riving early – stage engagement through clicks and interactions.</a:t>
            </a:r>
            <a:endParaRPr dirty="0"/>
          </a:p>
        </p:txBody>
      </p:sp>
      <p:sp>
        <p:nvSpPr>
          <p:cNvPr id="330" name="Google Shape;330;p47"/>
          <p:cNvSpPr txBox="1">
            <a:spLocks noGrp="1"/>
          </p:cNvSpPr>
          <p:nvPr>
            <p:ph type="subTitle" idx="2"/>
          </p:nvPr>
        </p:nvSpPr>
        <p:spPr>
          <a:xfrm>
            <a:off x="708080" y="1707762"/>
            <a:ext cx="7230575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AthloLite</a:t>
            </a:r>
            <a:r>
              <a:rPr lang="en-US" dirty="0"/>
              <a:t> is a business deals in sportswear, already launched through social media platforms like Facebook and Instagram. Recently added a range of new products under the reflective running gear category like running shorts, hats, vests, thermal &amp; shoes.</a:t>
            </a:r>
            <a:endParaRPr dirty="0"/>
          </a:p>
        </p:txBody>
      </p:sp>
      <p:sp>
        <p:nvSpPr>
          <p:cNvPr id="331" name="Google Shape;331;p47"/>
          <p:cNvSpPr txBox="1">
            <a:spLocks noGrp="1"/>
          </p:cNvSpPr>
          <p:nvPr>
            <p:ph type="subTitle" idx="3"/>
          </p:nvPr>
        </p:nvSpPr>
        <p:spPr>
          <a:xfrm>
            <a:off x="708080" y="1179380"/>
            <a:ext cx="2817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About Brand :-</a:t>
            </a:r>
            <a:endParaRPr dirty="0"/>
          </a:p>
        </p:txBody>
      </p:sp>
      <p:sp>
        <p:nvSpPr>
          <p:cNvPr id="332" name="Google Shape;332;p47"/>
          <p:cNvSpPr txBox="1">
            <a:spLocks noGrp="1"/>
          </p:cNvSpPr>
          <p:nvPr>
            <p:ph type="subTitle" idx="4"/>
          </p:nvPr>
        </p:nvSpPr>
        <p:spPr>
          <a:xfrm>
            <a:off x="270139" y="2899167"/>
            <a:ext cx="2817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OBJECTIVES: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</a:t>
            </a:r>
            <a:r>
              <a:rPr lang="en" dirty="0"/>
              <a:t>asks </a:t>
            </a:r>
            <a:endParaRPr dirty="0"/>
          </a:p>
        </p:txBody>
      </p:sp>
      <p:sp>
        <p:nvSpPr>
          <p:cNvPr id="242" name="Google Shape;242;p40"/>
          <p:cNvSpPr txBox="1">
            <a:spLocks noGrp="1"/>
          </p:cNvSpPr>
          <p:nvPr>
            <p:ph type="body" idx="1"/>
          </p:nvPr>
        </p:nvSpPr>
        <p:spPr>
          <a:xfrm>
            <a:off x="720000" y="1336415"/>
            <a:ext cx="7704000" cy="3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</a:t>
            </a:r>
            <a:r>
              <a:rPr lang="en" dirty="0"/>
              <a:t>romoting products on the google ecosystem</a:t>
            </a:r>
            <a:endParaRPr dirty="0"/>
          </a:p>
        </p:txBody>
      </p:sp>
      <p:graphicFrame>
        <p:nvGraphicFramePr>
          <p:cNvPr id="243" name="Google Shape;243;p40"/>
          <p:cNvGraphicFramePr/>
          <p:nvPr>
            <p:extLst>
              <p:ext uri="{D42A27DB-BD31-4B8C-83A1-F6EECF244321}">
                <p14:modId xmlns:p14="http://schemas.microsoft.com/office/powerpoint/2010/main" val="3494598304"/>
              </p:ext>
            </p:extLst>
          </p:nvPr>
        </p:nvGraphicFramePr>
        <p:xfrm>
          <a:off x="720000" y="1940406"/>
          <a:ext cx="7704000" cy="1446100"/>
        </p:xfrm>
        <a:graphic>
          <a:graphicData uri="http://schemas.openxmlformats.org/drawingml/2006/table">
            <a:tbl>
              <a:tblPr>
                <a:noFill/>
                <a:tableStyleId>{C3C3F7A4-D726-4686-8426-C8540F927F11}</a:tableStyleId>
              </a:tblPr>
              <a:tblGrid>
                <a:gridCol w="240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ask 1</a:t>
                      </a:r>
                      <a:endParaRPr sz="1000" b="1" u="none" dirty="0"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P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re-Campaign Preparation </a:t>
                      </a:r>
                      <a:endParaRPr sz="1000" dirty="0">
                        <a:solidFill>
                          <a:schemeClr val="dk1"/>
                        </a:solidFill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ask 2</a:t>
                      </a:r>
                      <a:endParaRPr sz="1000" b="1" u="none" dirty="0"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C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ampaign Planning </a:t>
                      </a:r>
                      <a:endParaRPr sz="1000" dirty="0">
                        <a:solidFill>
                          <a:schemeClr val="dk1"/>
                        </a:solidFill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ask 3</a:t>
                      </a:r>
                      <a:endParaRPr sz="1000" b="1" u="none" dirty="0"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Campaign Setup </a:t>
                      </a:r>
                      <a:endParaRPr sz="1000" dirty="0">
                        <a:solidFill>
                          <a:schemeClr val="dk1"/>
                        </a:solidFill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</a:t>
                      </a:r>
                      <a:r>
                        <a:rPr lang="en" sz="1000" b="1" u="none" dirty="0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ask 4</a:t>
                      </a:r>
                      <a:endParaRPr sz="1000" b="1" u="none" dirty="0"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C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ampaign Launch and Optimization </a:t>
                      </a:r>
                      <a:endParaRPr sz="1000" dirty="0">
                        <a:solidFill>
                          <a:schemeClr val="dk1"/>
                        </a:solidFill>
                        <a:latin typeface="DM Sans Medium"/>
                        <a:ea typeface="DM Sans Medium"/>
                        <a:cs typeface="DM Sans Medium"/>
                        <a:sym typeface="DM Sans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194400" y="445025"/>
            <a:ext cx="889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Task 1 – Pre-Campaign Prep</a:t>
            </a:r>
            <a:endParaRPr dirty="0"/>
          </a:p>
        </p:txBody>
      </p:sp>
      <p:sp>
        <p:nvSpPr>
          <p:cNvPr id="338" name="Google Shape;338;p48"/>
          <p:cNvSpPr txBox="1">
            <a:spLocks noGrp="1"/>
          </p:cNvSpPr>
          <p:nvPr>
            <p:ph type="subTitle" idx="1"/>
          </p:nvPr>
        </p:nvSpPr>
        <p:spPr>
          <a:xfrm>
            <a:off x="0" y="1706878"/>
            <a:ext cx="4029299" cy="1139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Age: 18-50 years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Gender: Male and Female both </a:t>
            </a:r>
          </a:p>
          <a:p>
            <a:pPr marL="0" lvl="0" indent="0" algn="r"/>
            <a:r>
              <a:rPr lang="en-US" dirty="0"/>
              <a:t>Location: 1 tier and 2 tier cities </a:t>
            </a:r>
          </a:p>
          <a:p>
            <a:pPr marL="0" lvl="0" indent="0" algn="r"/>
            <a:r>
              <a:rPr lang="en-US" dirty="0"/>
              <a:t>Income: Middle to Upper Class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48"/>
          <p:cNvSpPr txBox="1">
            <a:spLocks noGrp="1"/>
          </p:cNvSpPr>
          <p:nvPr>
            <p:ph type="subTitle" idx="2"/>
          </p:nvPr>
        </p:nvSpPr>
        <p:spPr>
          <a:xfrm>
            <a:off x="137253" y="3653577"/>
            <a:ext cx="4029299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</a:t>
            </a:r>
            <a:r>
              <a:rPr lang="en" dirty="0"/>
              <a:t>nline behaviour: frequent online-shopper,fitness video viewers on youtube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responds to discount offers</a:t>
            </a:r>
            <a:endParaRPr dirty="0"/>
          </a:p>
        </p:txBody>
      </p:sp>
      <p:sp>
        <p:nvSpPr>
          <p:cNvPr id="340" name="Google Shape;340;p48"/>
          <p:cNvSpPr txBox="1">
            <a:spLocks noGrp="1"/>
          </p:cNvSpPr>
          <p:nvPr>
            <p:ph type="subTitle" idx="3"/>
          </p:nvPr>
        </p:nvSpPr>
        <p:spPr>
          <a:xfrm>
            <a:off x="4341602" y="2258178"/>
            <a:ext cx="4639502" cy="1481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Lifestyle: Fitness Conscious, Outdoor Enthusiasts and Runners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Values: Health, Safety, Performance, Style</a:t>
            </a:r>
          </a:p>
          <a:p>
            <a:pPr marL="0" lvl="0" indent="0" algn="l"/>
            <a:r>
              <a:rPr lang="en-US" dirty="0"/>
              <a:t>Personality Traits: Goal-Driven, Knowledgeable about the clothes, Aware what material of clothes benefits their workouts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48"/>
          <p:cNvSpPr txBox="1">
            <a:spLocks noGrp="1"/>
          </p:cNvSpPr>
          <p:nvPr>
            <p:ph type="subTitle" idx="4"/>
          </p:nvPr>
        </p:nvSpPr>
        <p:spPr>
          <a:xfrm>
            <a:off x="352800" y="1311313"/>
            <a:ext cx="4094099" cy="4545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DEMOGRAPHIC SEGMENTS:</a:t>
            </a:r>
          </a:p>
        </p:txBody>
      </p:sp>
      <p:sp>
        <p:nvSpPr>
          <p:cNvPr id="342" name="Google Shape;342;p48"/>
          <p:cNvSpPr txBox="1">
            <a:spLocks noGrp="1"/>
          </p:cNvSpPr>
          <p:nvPr>
            <p:ph type="subTitle" idx="5"/>
          </p:nvPr>
        </p:nvSpPr>
        <p:spPr>
          <a:xfrm>
            <a:off x="352800" y="3039952"/>
            <a:ext cx="402929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BEHAVIOURAL SEGMENTS: </a:t>
            </a:r>
          </a:p>
        </p:txBody>
      </p:sp>
      <p:sp>
        <p:nvSpPr>
          <p:cNvPr id="343" name="Google Shape;343;p48"/>
          <p:cNvSpPr txBox="1">
            <a:spLocks noGrp="1"/>
          </p:cNvSpPr>
          <p:nvPr>
            <p:ph type="subTitle" idx="6"/>
          </p:nvPr>
        </p:nvSpPr>
        <p:spPr>
          <a:xfrm>
            <a:off x="3991502" y="1798525"/>
            <a:ext cx="4122897" cy="4932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PSYCHOGRAPHIC SEGMENTS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</a:t>
            </a:r>
            <a:r>
              <a:rPr lang="en" dirty="0"/>
              <a:t>ompetitor Analysis</a:t>
            </a:r>
            <a:endParaRPr dirty="0"/>
          </a:p>
        </p:txBody>
      </p:sp>
      <p:sp>
        <p:nvSpPr>
          <p:cNvPr id="349" name="Google Shape;349;p49"/>
          <p:cNvSpPr txBox="1">
            <a:spLocks noGrp="1"/>
          </p:cNvSpPr>
          <p:nvPr>
            <p:ph type="subTitle" idx="1"/>
          </p:nvPr>
        </p:nvSpPr>
        <p:spPr>
          <a:xfrm>
            <a:off x="151200" y="2289425"/>
            <a:ext cx="2930400" cy="2409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Premium brand, innovation-driven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Emotional, to empower lives through sport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Strong on YouTube &amp; Instagram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Have variety of products </a:t>
            </a:r>
            <a:endParaRPr dirty="0"/>
          </a:p>
        </p:txBody>
      </p:sp>
      <p:sp>
        <p:nvSpPr>
          <p:cNvPr id="350" name="Google Shape;350;p49"/>
          <p:cNvSpPr txBox="1">
            <a:spLocks noGrp="1"/>
          </p:cNvSpPr>
          <p:nvPr>
            <p:ph type="subTitle" idx="2"/>
          </p:nvPr>
        </p:nvSpPr>
        <p:spPr>
          <a:xfrm>
            <a:off x="6010189" y="2289424"/>
            <a:ext cx="3133811" cy="198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Affordable, functional sportswear for everyone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Practical &amp; user – friendly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Community focused campaign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Focused on other fitness relation </a:t>
            </a:r>
            <a:r>
              <a:rPr lang="en-IN" dirty="0"/>
              <a:t>equipment’s</a:t>
            </a:r>
            <a:r>
              <a:rPr lang="en-US" dirty="0"/>
              <a:t> too  </a:t>
            </a:r>
            <a:endParaRPr dirty="0"/>
          </a:p>
        </p:txBody>
      </p:sp>
      <p:sp>
        <p:nvSpPr>
          <p:cNvPr id="353" name="Google Shape;353;p49"/>
          <p:cNvSpPr txBox="1">
            <a:spLocks noGrp="1"/>
          </p:cNvSpPr>
          <p:nvPr>
            <p:ph type="subTitle" idx="5"/>
          </p:nvPr>
        </p:nvSpPr>
        <p:spPr>
          <a:xfrm>
            <a:off x="720019" y="1602525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</a:t>
            </a:r>
            <a:r>
              <a:rPr lang="en" dirty="0"/>
              <a:t>didas </a:t>
            </a:r>
            <a:endParaRPr dirty="0"/>
          </a:p>
        </p:txBody>
      </p:sp>
      <p:sp>
        <p:nvSpPr>
          <p:cNvPr id="355" name="Google Shape;355;p49"/>
          <p:cNvSpPr txBox="1">
            <a:spLocks noGrp="1"/>
          </p:cNvSpPr>
          <p:nvPr>
            <p:ph type="subTitle" idx="7"/>
          </p:nvPr>
        </p:nvSpPr>
        <p:spPr>
          <a:xfrm>
            <a:off x="6445794" y="1650600"/>
            <a:ext cx="1978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</a:t>
            </a:r>
            <a:r>
              <a:rPr lang="en" dirty="0"/>
              <a:t>ecathlon</a:t>
            </a:r>
            <a:endParaRPr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A963FE5-2B8E-4FAC-1466-08F91EF356E1}"/>
              </a:ext>
            </a:extLst>
          </p:cNvPr>
          <p:cNvPicPr>
            <a:picLocks noGrp="1" noChangeAspect="1"/>
          </p:cNvPicPr>
          <p:nvPr>
            <p:ph type="pic" idx="9"/>
          </p:nvPr>
        </p:nvPicPr>
        <p:blipFill>
          <a:blip r:embed="rId3"/>
          <a:srcRect t="4175" b="406"/>
          <a:stretch>
            <a:fillRect/>
          </a:stretch>
        </p:blipFill>
        <p:spPr>
          <a:xfrm>
            <a:off x="3081600" y="1207549"/>
            <a:ext cx="2876400" cy="36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>
          <a:extLst>
            <a:ext uri="{FF2B5EF4-FFF2-40B4-BE49-F238E27FC236}">
              <a16:creationId xmlns:a16="http://schemas.microsoft.com/office/drawing/2014/main" id="{7A94F649-DBC2-1D25-90E7-170AE695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>
            <a:extLst>
              <a:ext uri="{FF2B5EF4-FFF2-40B4-BE49-F238E27FC236}">
                <a16:creationId xmlns:a16="http://schemas.microsoft.com/office/drawing/2014/main" id="{26A8C28D-8AF1-56A0-1A6E-A5120896B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Task 2 – Campaign Planning</a:t>
            </a:r>
            <a:endParaRPr dirty="0"/>
          </a:p>
        </p:txBody>
      </p:sp>
      <p:sp>
        <p:nvSpPr>
          <p:cNvPr id="329" name="Google Shape;329;p47">
            <a:extLst>
              <a:ext uri="{FF2B5EF4-FFF2-40B4-BE49-F238E27FC236}">
                <a16:creationId xmlns:a16="http://schemas.microsoft.com/office/drawing/2014/main" id="{7F43AF82-C1D5-EAE2-08E7-2C88E783A1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1600" y="3494995"/>
            <a:ext cx="7804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Objective: Encourage users to visit the website and explore the product range.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Metrics: Average session duration, number of pages per session, number of returning visitors and engagement rate.</a:t>
            </a:r>
            <a:endParaRPr dirty="0"/>
          </a:p>
        </p:txBody>
      </p:sp>
      <p:sp>
        <p:nvSpPr>
          <p:cNvPr id="330" name="Google Shape;330;p47">
            <a:extLst>
              <a:ext uri="{FF2B5EF4-FFF2-40B4-BE49-F238E27FC236}">
                <a16:creationId xmlns:a16="http://schemas.microsoft.com/office/drawing/2014/main" id="{4947A788-A110-DFD9-1EAF-3E63F5B419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1600" y="2272722"/>
            <a:ext cx="8042399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Objective: Introduce </a:t>
            </a:r>
            <a:r>
              <a:rPr lang="en-US" dirty="0" err="1"/>
              <a:t>AthloLite</a:t>
            </a:r>
            <a:r>
              <a:rPr lang="en-US" dirty="0"/>
              <a:t> to a broader audience across google platforms, increase website traffic by 30% within the next three months.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Metrics: Total website visits, click – through rate (CTR) from google ads, bounce rate.</a:t>
            </a:r>
            <a:endParaRPr dirty="0"/>
          </a:p>
        </p:txBody>
      </p:sp>
      <p:sp>
        <p:nvSpPr>
          <p:cNvPr id="331" name="Google Shape;331;p47">
            <a:extLst>
              <a:ext uri="{FF2B5EF4-FFF2-40B4-BE49-F238E27FC236}">
                <a16:creationId xmlns:a16="http://schemas.microsoft.com/office/drawing/2014/main" id="{D2438344-BACB-6C9C-3220-1BB7F0AA8AC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1600" y="2056813"/>
            <a:ext cx="3074400" cy="3368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Increase website Traffic: </a:t>
            </a:r>
            <a:endParaRPr sz="1400" dirty="0"/>
          </a:p>
        </p:txBody>
      </p:sp>
      <p:sp>
        <p:nvSpPr>
          <p:cNvPr id="2" name="Google Shape;330;p47">
            <a:extLst>
              <a:ext uri="{FF2B5EF4-FFF2-40B4-BE49-F238E27FC236}">
                <a16:creationId xmlns:a16="http://schemas.microsoft.com/office/drawing/2014/main" id="{173381E4-BBE0-709C-C33A-240500F21DE3}"/>
              </a:ext>
            </a:extLst>
          </p:cNvPr>
          <p:cNvSpPr txBox="1">
            <a:spLocks/>
          </p:cNvSpPr>
          <p:nvPr/>
        </p:nvSpPr>
        <p:spPr>
          <a:xfrm>
            <a:off x="561600" y="1143155"/>
            <a:ext cx="8042399" cy="716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 algn="l"/>
            <a:r>
              <a:rPr lang="en-US" dirty="0"/>
              <a:t>To create effective marketing plan for </a:t>
            </a:r>
            <a:r>
              <a:rPr lang="en-US" dirty="0" err="1"/>
              <a:t>AthloLite</a:t>
            </a:r>
            <a:r>
              <a:rPr lang="en-US" dirty="0"/>
              <a:t> at a budget of ₹6,00,000. By using strategies, targeting audiences and allocating cost as per expenses on them using the mode of channels that this could be done effectively.</a:t>
            </a:r>
          </a:p>
        </p:txBody>
      </p:sp>
      <p:sp>
        <p:nvSpPr>
          <p:cNvPr id="3" name="Google Shape;331;p47">
            <a:extLst>
              <a:ext uri="{FF2B5EF4-FFF2-40B4-BE49-F238E27FC236}">
                <a16:creationId xmlns:a16="http://schemas.microsoft.com/office/drawing/2014/main" id="{27908166-9C8F-9435-E905-CADB26B4EC50}"/>
              </a:ext>
            </a:extLst>
          </p:cNvPr>
          <p:cNvSpPr txBox="1">
            <a:spLocks/>
          </p:cNvSpPr>
          <p:nvPr/>
        </p:nvSpPr>
        <p:spPr>
          <a:xfrm>
            <a:off x="561600" y="3174085"/>
            <a:ext cx="3074400" cy="33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1700" b="1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marL="0" indent="0" algn="l"/>
            <a:r>
              <a:rPr lang="en-US" sz="1400" dirty="0"/>
              <a:t>Boost User engagement: </a:t>
            </a:r>
          </a:p>
        </p:txBody>
      </p:sp>
    </p:spTree>
    <p:extLst>
      <p:ext uri="{BB962C8B-B14F-4D97-AF65-F5344CB8AC3E}">
        <p14:creationId xmlns:p14="http://schemas.microsoft.com/office/powerpoint/2010/main" val="177293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</a:t>
            </a:r>
            <a:r>
              <a:rPr lang="en" dirty="0"/>
              <a:t>udget Allocation</a:t>
            </a:r>
            <a:endParaRPr dirty="0"/>
          </a:p>
        </p:txBody>
      </p:sp>
      <p:sp>
        <p:nvSpPr>
          <p:cNvPr id="321" name="Google Shape;321;p46"/>
          <p:cNvSpPr txBox="1">
            <a:spLocks noGrp="1"/>
          </p:cNvSpPr>
          <p:nvPr>
            <p:ph type="subTitle" idx="1"/>
          </p:nvPr>
        </p:nvSpPr>
        <p:spPr>
          <a:xfrm>
            <a:off x="3927024" y="1234500"/>
            <a:ext cx="4820975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Search Ads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Budget:- 3,00,000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Google search ads are ideal for capturing high-intent customers activity searching for reflective running products like </a:t>
            </a:r>
            <a:r>
              <a:rPr lang="en-US" dirty="0" err="1"/>
              <a:t>Athlolite</a:t>
            </a:r>
            <a:r>
              <a:rPr lang="en-US" dirty="0"/>
              <a:t> shoes.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To optimize search ads for maximum impact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1. Keyword strategy: </a:t>
            </a:r>
          </a:p>
          <a:p>
            <a:pPr marL="285750" indent="-285750">
              <a:buSzPts val="1100"/>
            </a:pPr>
            <a:r>
              <a:rPr lang="en-US" dirty="0"/>
              <a:t>Brand keywords</a:t>
            </a:r>
          </a:p>
          <a:p>
            <a:pPr marL="285750" indent="-285750">
              <a:buSzPts val="1100"/>
            </a:pPr>
            <a:r>
              <a:rPr lang="en-US" dirty="0"/>
              <a:t>Product keywords</a:t>
            </a:r>
          </a:p>
          <a:p>
            <a:pPr marL="285750" indent="-285750">
              <a:buSzPts val="1100"/>
            </a:pPr>
            <a:r>
              <a:rPr lang="en-US" dirty="0"/>
              <a:t>Long-tail keywords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dirty="0"/>
              <a:t>2. Ad copy:</a:t>
            </a:r>
          </a:p>
          <a:p>
            <a:pPr marL="285750" indent="-285750">
              <a:buSzPts val="1100"/>
            </a:pPr>
            <a:r>
              <a:rPr lang="en-US" dirty="0"/>
              <a:t>Headline </a:t>
            </a:r>
          </a:p>
          <a:p>
            <a:pPr marL="285750" indent="-285750">
              <a:buSzPts val="1100"/>
            </a:pPr>
            <a:r>
              <a:rPr lang="en-US" dirty="0"/>
              <a:t>Description </a:t>
            </a:r>
          </a:p>
          <a:p>
            <a:pPr marL="285750" indent="-285750">
              <a:buSzPts val="1100"/>
            </a:pPr>
            <a:r>
              <a:rPr lang="en-US" dirty="0"/>
              <a:t>Call to action (CTA)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3. Extension:</a:t>
            </a:r>
          </a:p>
          <a:p>
            <a:pPr marL="285750" indent="-285750">
              <a:buSzPts val="1100"/>
            </a:pPr>
            <a:r>
              <a:rPr lang="en-US" dirty="0"/>
              <a:t>Site link extensions </a:t>
            </a:r>
          </a:p>
          <a:p>
            <a:pPr marL="285750" indent="-285750">
              <a:buSzPts val="1100"/>
            </a:pPr>
            <a:r>
              <a:rPr lang="en-US" dirty="0"/>
              <a:t>Callout extensions </a:t>
            </a:r>
            <a:endParaRPr dirty="0"/>
          </a:p>
        </p:txBody>
      </p:sp>
      <p:pic>
        <p:nvPicPr>
          <p:cNvPr id="322" name="Google Shape;322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8678" b="24673"/>
          <a:stretch/>
        </p:blipFill>
        <p:spPr>
          <a:xfrm>
            <a:off x="0" y="1335300"/>
            <a:ext cx="3808200" cy="3808200"/>
          </a:xfrm>
          <a:prstGeom prst="rect">
            <a:avLst/>
          </a:prstGeom>
        </p:spPr>
      </p:pic>
      <p:pic>
        <p:nvPicPr>
          <p:cNvPr id="323" name="Google Shape;323;p46"/>
          <p:cNvPicPr preferRelativeResize="0"/>
          <p:nvPr/>
        </p:nvPicPr>
        <p:blipFill rotWithShape="1">
          <a:blip r:embed="rId4">
            <a:alphaModFix/>
          </a:blip>
          <a:srcRect l="41207" t="-7868" r="24310" b="77974"/>
          <a:stretch/>
        </p:blipFill>
        <p:spPr>
          <a:xfrm>
            <a:off x="0" y="3605900"/>
            <a:ext cx="2451000" cy="1537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4;p43">
            <a:extLst>
              <a:ext uri="{FF2B5EF4-FFF2-40B4-BE49-F238E27FC236}">
                <a16:creationId xmlns:a16="http://schemas.microsoft.com/office/drawing/2014/main" id="{6E8BF265-1B37-92E8-5262-A3076F7A5E8B}"/>
              </a:ext>
            </a:extLst>
          </p:cNvPr>
          <p:cNvSpPr txBox="1"/>
          <p:nvPr/>
        </p:nvSpPr>
        <p:spPr>
          <a:xfrm>
            <a:off x="3927024" y="1335300"/>
            <a:ext cx="1141776" cy="198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/>
        </p:nvSpPr>
        <p:spPr>
          <a:xfrm>
            <a:off x="245029" y="1540179"/>
            <a:ext cx="4505516" cy="335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udget – 1,00,000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oogle display ads help increase brand awareness and reach potential customers while they browse their favorite websites, watch videos or use mobile apps.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A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udience targeting: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emographic targeting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ffinity audiences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In-market audiences 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A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 design: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isuals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randing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essaging 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P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lacement strategy: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anaged placements &amp; remarketing 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43"/>
          <p:cNvSpPr txBox="1"/>
          <p:nvPr/>
        </p:nvSpPr>
        <p:spPr>
          <a:xfrm>
            <a:off x="4645361" y="1093249"/>
            <a:ext cx="1994900" cy="38365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84" name="Google Shape;284;p43"/>
          <p:cNvSpPr txBox="1"/>
          <p:nvPr/>
        </p:nvSpPr>
        <p:spPr>
          <a:xfrm>
            <a:off x="340638" y="1093249"/>
            <a:ext cx="1921175" cy="38365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cxnSp>
        <p:nvCxnSpPr>
          <p:cNvPr id="297" name="Google Shape;297;p43"/>
          <p:cNvCxnSpPr>
            <a:cxnSpLocks/>
          </p:cNvCxnSpPr>
          <p:nvPr/>
        </p:nvCxnSpPr>
        <p:spPr>
          <a:xfrm rot="10800000">
            <a:off x="720001" y="1093251"/>
            <a:ext cx="5920261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sm" len="sm"/>
            <a:tailEnd type="none" w="sm" len="sm"/>
          </a:ln>
        </p:spPr>
      </p:cxnSp>
      <p:sp>
        <p:nvSpPr>
          <p:cNvPr id="8" name="Google Shape;320;p46">
            <a:extLst>
              <a:ext uri="{FF2B5EF4-FFF2-40B4-BE49-F238E27FC236}">
                <a16:creationId xmlns:a16="http://schemas.microsoft.com/office/drawing/2014/main" id="{9EBCBCB4-F3DB-991B-EC96-C698BFEF3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</a:t>
            </a:r>
            <a:r>
              <a:rPr lang="en" dirty="0"/>
              <a:t>udget Allocation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AE726-7D38-A42E-03A6-4675091AA5BE}"/>
              </a:ext>
            </a:extLst>
          </p:cNvPr>
          <p:cNvSpPr txBox="1"/>
          <p:nvPr/>
        </p:nvSpPr>
        <p:spPr>
          <a:xfrm>
            <a:off x="721625" y="1131188"/>
            <a:ext cx="115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Display ads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Google Shape;282;p43">
            <a:extLst>
              <a:ext uri="{FF2B5EF4-FFF2-40B4-BE49-F238E27FC236}">
                <a16:creationId xmlns:a16="http://schemas.microsoft.com/office/drawing/2014/main" id="{CD417B14-35D5-03B5-60D2-CBAB6434FAB6}"/>
              </a:ext>
            </a:extLst>
          </p:cNvPr>
          <p:cNvSpPr txBox="1"/>
          <p:nvPr/>
        </p:nvSpPr>
        <p:spPr>
          <a:xfrm>
            <a:off x="4572000" y="1544024"/>
            <a:ext cx="4505516" cy="390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udget – 2,00,000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YouTube video ads are perfect for storytelling and showcasing brand in action, capturing the attention of users through engaging visuals and narratives 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Ad formats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Skippable ads </a:t>
            </a:r>
          </a:p>
          <a:p>
            <a:pPr marL="2857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Non-Skippable ads </a:t>
            </a:r>
            <a:endParaRPr lang="en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Bumper ads </a:t>
            </a: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Content ideas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Product showcases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Customer testimonials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Behind the scene</a:t>
            </a:r>
          </a:p>
          <a:p>
            <a:pPr marR="0" lvl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Targeting options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Demographics and interest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Custom affinity audiences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Video remarketing </a:t>
            </a:r>
            <a:endParaRPr lang="en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54092-700F-495D-C595-D6FB31B0B00E}"/>
              </a:ext>
            </a:extLst>
          </p:cNvPr>
          <p:cNvSpPr txBox="1"/>
          <p:nvPr/>
        </p:nvSpPr>
        <p:spPr>
          <a:xfrm>
            <a:off x="4750545" y="1122431"/>
            <a:ext cx="1936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Video ads (YouTube)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TASK 3 – Campaign Setup </a:t>
            </a:r>
            <a:endParaRPr dirty="0"/>
          </a:p>
        </p:txBody>
      </p:sp>
      <p:sp>
        <p:nvSpPr>
          <p:cNvPr id="314" name="Google Shape;314;p45"/>
          <p:cNvSpPr txBox="1">
            <a:spLocks noGrp="1"/>
          </p:cNvSpPr>
          <p:nvPr>
            <p:ph type="subTitle" idx="1"/>
          </p:nvPr>
        </p:nvSpPr>
        <p:spPr>
          <a:xfrm>
            <a:off x="4839646" y="1634925"/>
            <a:ext cx="3268200" cy="366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Negative keywords:</a:t>
            </a:r>
            <a:endParaRPr dirty="0"/>
          </a:p>
        </p:txBody>
      </p:sp>
      <p:sp>
        <p:nvSpPr>
          <p:cNvPr id="315" name="Google Shape;315;p45"/>
          <p:cNvSpPr txBox="1">
            <a:spLocks noGrp="1"/>
          </p:cNvSpPr>
          <p:nvPr>
            <p:ph type="subTitle" idx="2"/>
          </p:nvPr>
        </p:nvSpPr>
        <p:spPr>
          <a:xfrm>
            <a:off x="699046" y="1634925"/>
            <a:ext cx="3268200" cy="467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Focus keywords:</a:t>
            </a:r>
            <a:endParaRPr dirty="0"/>
          </a:p>
        </p:txBody>
      </p:sp>
      <p:sp>
        <p:nvSpPr>
          <p:cNvPr id="2" name="Google Shape;315;p45">
            <a:extLst>
              <a:ext uri="{FF2B5EF4-FFF2-40B4-BE49-F238E27FC236}">
                <a16:creationId xmlns:a16="http://schemas.microsoft.com/office/drawing/2014/main" id="{C3702D3E-484E-CA56-4EA3-51EDAAC122BC}"/>
              </a:ext>
            </a:extLst>
          </p:cNvPr>
          <p:cNvSpPr txBox="1">
            <a:spLocks/>
          </p:cNvSpPr>
          <p:nvPr/>
        </p:nvSpPr>
        <p:spPr>
          <a:xfrm>
            <a:off x="2670254" y="1092587"/>
            <a:ext cx="3268200" cy="46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/>
            <a:r>
              <a:rPr lang="en-US" sz="1800" b="1" dirty="0"/>
              <a:t>(Keyword selection) </a:t>
            </a:r>
          </a:p>
        </p:txBody>
      </p:sp>
      <p:sp>
        <p:nvSpPr>
          <p:cNvPr id="3" name="Google Shape;315;p45">
            <a:extLst>
              <a:ext uri="{FF2B5EF4-FFF2-40B4-BE49-F238E27FC236}">
                <a16:creationId xmlns:a16="http://schemas.microsoft.com/office/drawing/2014/main" id="{DEBABA02-CB6C-61A2-94C9-725A0500325A}"/>
              </a:ext>
            </a:extLst>
          </p:cNvPr>
          <p:cNvSpPr txBox="1">
            <a:spLocks/>
          </p:cNvSpPr>
          <p:nvPr/>
        </p:nvSpPr>
        <p:spPr>
          <a:xfrm>
            <a:off x="266954" y="2037600"/>
            <a:ext cx="3966646" cy="46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6" name="Google Shape;315;p45">
            <a:extLst>
              <a:ext uri="{FF2B5EF4-FFF2-40B4-BE49-F238E27FC236}">
                <a16:creationId xmlns:a16="http://schemas.microsoft.com/office/drawing/2014/main" id="{ABDAD67E-C8EA-E936-F1C4-B214CF46B50C}"/>
              </a:ext>
            </a:extLst>
          </p:cNvPr>
          <p:cNvSpPr txBox="1">
            <a:spLocks/>
          </p:cNvSpPr>
          <p:nvPr/>
        </p:nvSpPr>
        <p:spPr>
          <a:xfrm>
            <a:off x="1087754" y="2102400"/>
            <a:ext cx="3268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Athletic clothes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Men's sports clothes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Ladies sports clothes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Sportswear </a:t>
            </a:r>
            <a:r>
              <a:rPr lang="en-IN" dirty="0" err="1">
                <a:solidFill>
                  <a:schemeClr val="tx1"/>
                </a:solidFill>
                <a:latin typeface="Calibri" panose="020F0502020204030204" pitchFamily="34" charset="0"/>
              </a:rPr>
              <a:t>tshirts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Football sportswear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Modern sportswear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Best workout shoes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Workout clothes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Activewear for workouts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Gym clothes</a:t>
            </a:r>
          </a:p>
          <a:p>
            <a:pPr algn="l" fontAlgn="b"/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1" name="Google Shape;315;p45">
            <a:extLst>
              <a:ext uri="{FF2B5EF4-FFF2-40B4-BE49-F238E27FC236}">
                <a16:creationId xmlns:a16="http://schemas.microsoft.com/office/drawing/2014/main" id="{105A4F5D-8157-FEB0-E932-C5A605DC1EBE}"/>
              </a:ext>
            </a:extLst>
          </p:cNvPr>
          <p:cNvSpPr txBox="1">
            <a:spLocks/>
          </p:cNvSpPr>
          <p:nvPr/>
        </p:nvSpPr>
        <p:spPr>
          <a:xfrm>
            <a:off x="5176754" y="2076463"/>
            <a:ext cx="3268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Nike sport clothes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Sportswear jackets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Puma gym wear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Ugly clothes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Cheap clothes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Adidas sportswear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Hoodies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Sports equipment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Sports Helmets </a:t>
            </a:r>
          </a:p>
          <a:p>
            <a:pPr marL="482600" indent="-342900" algn="l" fontAlgn="b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</a:rPr>
              <a:t>Overrated sportswear  </a:t>
            </a:r>
          </a:p>
          <a:p>
            <a:pPr algn="l" fontAlgn="b"/>
            <a:endParaRPr lang="en-IN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 Creation</a:t>
            </a:r>
            <a:endParaRPr dirty="0"/>
          </a:p>
        </p:txBody>
      </p:sp>
      <p:sp>
        <p:nvSpPr>
          <p:cNvPr id="365" name="Google Shape;365;p50"/>
          <p:cNvSpPr txBox="1">
            <a:spLocks noGrp="1"/>
          </p:cNvSpPr>
          <p:nvPr>
            <p:ph type="subTitle" idx="1"/>
          </p:nvPr>
        </p:nvSpPr>
        <p:spPr>
          <a:xfrm>
            <a:off x="720000" y="1493312"/>
            <a:ext cx="7704000" cy="10225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Search ads are keyword-driven digital ads. The search term a user enters determines which ads appear on the search engine results page (SERP). These ads are displayed across Google's search network to capture relevant, high-intent traffic.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</a:t>
            </a:r>
            <a:r>
              <a:rPr lang="en-US" dirty="0">
                <a:solidFill>
                  <a:schemeClr val="bg2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en-US" dirty="0"/>
              <a:t> here to see the setup)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50"/>
          <p:cNvSpPr txBox="1">
            <a:spLocks noGrp="1"/>
          </p:cNvSpPr>
          <p:nvPr>
            <p:ph type="subTitle" idx="7"/>
          </p:nvPr>
        </p:nvSpPr>
        <p:spPr>
          <a:xfrm>
            <a:off x="452450" y="1115400"/>
            <a:ext cx="2823613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G</a:t>
            </a:r>
            <a:r>
              <a:rPr lang="en" sz="1400" dirty="0"/>
              <a:t>oogle Search Ads: </a:t>
            </a:r>
            <a:endParaRPr sz="1400" dirty="0"/>
          </a:p>
        </p:txBody>
      </p:sp>
      <p:sp>
        <p:nvSpPr>
          <p:cNvPr id="10" name="Google Shape;369;p50">
            <a:extLst>
              <a:ext uri="{FF2B5EF4-FFF2-40B4-BE49-F238E27FC236}">
                <a16:creationId xmlns:a16="http://schemas.microsoft.com/office/drawing/2014/main" id="{EE855CD3-F43C-4FDC-0C5D-E480863DC94B}"/>
              </a:ext>
            </a:extLst>
          </p:cNvPr>
          <p:cNvSpPr txBox="1">
            <a:spLocks/>
          </p:cNvSpPr>
          <p:nvPr/>
        </p:nvSpPr>
        <p:spPr>
          <a:xfrm>
            <a:off x="589249" y="2515888"/>
            <a:ext cx="3111551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1700" b="1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ugaz One"/>
              <a:buNone/>
              <a:defRPr sz="2400" b="0" i="0" u="none" strike="noStrike" cap="none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pPr marL="0" indent="0"/>
            <a:r>
              <a:rPr lang="en-IN" sz="1400" dirty="0"/>
              <a:t>Google Display Network: </a:t>
            </a:r>
          </a:p>
        </p:txBody>
      </p:sp>
      <p:sp>
        <p:nvSpPr>
          <p:cNvPr id="24" name="Google Shape;365;p50">
            <a:extLst>
              <a:ext uri="{FF2B5EF4-FFF2-40B4-BE49-F238E27FC236}">
                <a16:creationId xmlns:a16="http://schemas.microsoft.com/office/drawing/2014/main" id="{119CF94F-7356-D6F1-B31E-EB0666FDD226}"/>
              </a:ext>
            </a:extLst>
          </p:cNvPr>
          <p:cNvSpPr txBox="1">
            <a:spLocks/>
          </p:cNvSpPr>
          <p:nvPr/>
        </p:nvSpPr>
        <p:spPr>
          <a:xfrm>
            <a:off x="720000" y="2893800"/>
            <a:ext cx="7704000" cy="10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 algn="l"/>
            <a:r>
              <a:rPr lang="en-US" dirty="0"/>
              <a:t>Google display network (GDN) is a vast collection of over 2 million websites, apps and videos where your google ads can appear. It helps you reach users as they browse the web, even if they’re not actively searching.</a:t>
            </a:r>
          </a:p>
          <a:p>
            <a:pPr marL="0" indent="0" algn="l"/>
            <a:r>
              <a:rPr lang="en-US" dirty="0"/>
              <a:t>(</a:t>
            </a:r>
            <a:r>
              <a:rPr lang="en-US" dirty="0">
                <a:solidFill>
                  <a:schemeClr val="bg2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en-US" dirty="0"/>
              <a:t> here to see the setup)</a:t>
            </a:r>
          </a:p>
          <a:p>
            <a:pPr marL="0" indent="0" algn="l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711" t="813" r="3296"/>
          <a:stretch/>
        </p:blipFill>
        <p:spPr>
          <a:xfrm flipH="1">
            <a:off x="-1" y="0"/>
            <a:ext cx="4147901" cy="5143501"/>
          </a:xfrm>
          <a:prstGeom prst="rect">
            <a:avLst/>
          </a:prstGeom>
        </p:spPr>
      </p:pic>
      <p:pic>
        <p:nvPicPr>
          <p:cNvPr id="271" name="Google Shape;271;p42"/>
          <p:cNvPicPr preferRelativeResize="0"/>
          <p:nvPr/>
        </p:nvPicPr>
        <p:blipFill rotWithShape="1">
          <a:blip r:embed="rId4">
            <a:alphaModFix/>
          </a:blip>
          <a:srcRect l="9471" t="10418" r="60785"/>
          <a:stretch/>
        </p:blipFill>
        <p:spPr>
          <a:xfrm rot="10800000" flipH="1">
            <a:off x="1714926" y="-1"/>
            <a:ext cx="2569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2"/>
          <p:cNvPicPr preferRelativeResize="0"/>
          <p:nvPr/>
        </p:nvPicPr>
        <p:blipFill rotWithShape="1">
          <a:blip r:embed="rId5">
            <a:alphaModFix/>
          </a:blip>
          <a:srcRect l="20796" t="9116" r="24891" b="68140"/>
          <a:stretch/>
        </p:blipFill>
        <p:spPr>
          <a:xfrm flipH="1">
            <a:off x="1" y="4185550"/>
            <a:ext cx="3161349" cy="9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69;p50">
            <a:extLst>
              <a:ext uri="{FF2B5EF4-FFF2-40B4-BE49-F238E27FC236}">
                <a16:creationId xmlns:a16="http://schemas.microsoft.com/office/drawing/2014/main" id="{4407AEB1-DCA7-3E7A-439F-4EACEFF0DC1B}"/>
              </a:ext>
            </a:extLst>
          </p:cNvPr>
          <p:cNvSpPr txBox="1">
            <a:spLocks/>
          </p:cNvSpPr>
          <p:nvPr/>
        </p:nvSpPr>
        <p:spPr>
          <a:xfrm>
            <a:off x="4066851" y="1490999"/>
            <a:ext cx="2823613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b="1" dirty="0">
                <a:solidFill>
                  <a:schemeClr val="tx1"/>
                </a:solidFill>
                <a:latin typeface="Unbounded" panose="020B0604020202020204" charset="0"/>
              </a:rPr>
              <a:t>YouTube Ads:</a:t>
            </a:r>
          </a:p>
        </p:txBody>
      </p:sp>
      <p:sp>
        <p:nvSpPr>
          <p:cNvPr id="7" name="Google Shape;365;p50">
            <a:extLst>
              <a:ext uri="{FF2B5EF4-FFF2-40B4-BE49-F238E27FC236}">
                <a16:creationId xmlns:a16="http://schemas.microsoft.com/office/drawing/2014/main" id="{873CF1B1-EB4F-32E9-ADBD-5AA35120F0F2}"/>
              </a:ext>
            </a:extLst>
          </p:cNvPr>
          <p:cNvSpPr txBox="1">
            <a:spLocks/>
          </p:cNvSpPr>
          <p:nvPr/>
        </p:nvSpPr>
        <p:spPr>
          <a:xfrm>
            <a:off x="4622400" y="1936200"/>
            <a:ext cx="3852000" cy="161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 algn="l"/>
            <a:r>
              <a:rPr lang="en-US" dirty="0"/>
              <a:t>YouTube ads are video-based promotions that run on YouTube and its partner sites.</a:t>
            </a:r>
          </a:p>
          <a:p>
            <a:pPr marL="0" indent="0" algn="l"/>
            <a:r>
              <a:rPr lang="en-US" dirty="0"/>
              <a:t>Therse ads can be charged on a pay-per-view or pay-pre-click basis</a:t>
            </a:r>
          </a:p>
          <a:p>
            <a:pPr marL="0" indent="0" algn="l"/>
            <a:r>
              <a:rPr lang="en-US" dirty="0"/>
              <a:t>(</a:t>
            </a:r>
            <a:r>
              <a:rPr lang="en-US" dirty="0">
                <a:solidFill>
                  <a:schemeClr val="bg2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</a:t>
            </a:r>
            <a:r>
              <a:rPr lang="en-US" dirty="0"/>
              <a:t>here to see the setup)</a:t>
            </a:r>
          </a:p>
          <a:p>
            <a:pPr marL="0" indent="0" algn="l"/>
            <a:endParaRPr lang="en-US" dirty="0"/>
          </a:p>
          <a:p>
            <a:pPr marL="0" indent="0" algn="l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5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1935" r="1"/>
          <a:stretch>
            <a:fillRect/>
          </a:stretch>
        </p:blipFill>
        <p:spPr>
          <a:xfrm>
            <a:off x="-6650" y="-6650"/>
            <a:ext cx="9150602" cy="5143501"/>
          </a:xfrm>
          <a:prstGeom prst="rect">
            <a:avLst/>
          </a:prstGeom>
        </p:spPr>
      </p:pic>
      <p:sp>
        <p:nvSpPr>
          <p:cNvPr id="425" name="Google Shape;425;p55"/>
          <p:cNvSpPr txBox="1">
            <a:spLocks noGrp="1"/>
          </p:cNvSpPr>
          <p:nvPr>
            <p:ph type="title"/>
          </p:nvPr>
        </p:nvSpPr>
        <p:spPr>
          <a:xfrm>
            <a:off x="720000" y="4133300"/>
            <a:ext cx="7704000" cy="4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TASK 4 – Campaign Launch &amp; Optimization </a:t>
            </a:r>
          </a:p>
        </p:txBody>
      </p:sp>
      <p:pic>
        <p:nvPicPr>
          <p:cNvPr id="426" name="Google Shape;426;p55"/>
          <p:cNvPicPr preferRelativeResize="0"/>
          <p:nvPr/>
        </p:nvPicPr>
        <p:blipFill rotWithShape="1">
          <a:blip r:embed="rId4">
            <a:alphaModFix/>
          </a:blip>
          <a:srcRect l="65040" t="40777" r="10085" b="17328"/>
          <a:stretch/>
        </p:blipFill>
        <p:spPr>
          <a:xfrm rot="10800000" flipH="1">
            <a:off x="-6650" y="3372274"/>
            <a:ext cx="1447875" cy="176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</a:t>
            </a:r>
            <a:r>
              <a:rPr lang="en" dirty="0"/>
              <a:t>ampaign Optimaztion Result</a:t>
            </a:r>
            <a:endParaRPr dirty="0"/>
          </a:p>
        </p:txBody>
      </p:sp>
      <p:sp>
        <p:nvSpPr>
          <p:cNvPr id="460" name="Google Shape;460;p59"/>
          <p:cNvSpPr txBox="1"/>
          <p:nvPr/>
        </p:nvSpPr>
        <p:spPr>
          <a:xfrm>
            <a:off x="641394" y="2602175"/>
            <a:ext cx="2635794" cy="111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earch ads – 4,00,000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isplay ads – 50,000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ouTube ads – 1,00,000</a:t>
            </a:r>
          </a:p>
        </p:txBody>
      </p:sp>
      <p:sp>
        <p:nvSpPr>
          <p:cNvPr id="461" name="Google Shape;461;p59"/>
          <p:cNvSpPr txBox="1"/>
          <p:nvPr/>
        </p:nvSpPr>
        <p:spPr>
          <a:xfrm>
            <a:off x="826194" y="1937400"/>
            <a:ext cx="22200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I</a:t>
            </a:r>
            <a:r>
              <a:rPr lang="en" sz="1700" b="1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mpression </a:t>
            </a: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462" name="Google Shape;462;p59"/>
          <p:cNvSpPr txBox="1"/>
          <p:nvPr/>
        </p:nvSpPr>
        <p:spPr>
          <a:xfrm>
            <a:off x="3411588" y="2591675"/>
            <a:ext cx="2523082" cy="120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ads – 36,000</a:t>
            </a:r>
          </a:p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Display ads – 4,700</a:t>
            </a:r>
          </a:p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YouTube ads – 8,000</a:t>
            </a:r>
          </a:p>
        </p:txBody>
      </p:sp>
      <p:sp>
        <p:nvSpPr>
          <p:cNvPr id="464" name="Google Shape;464;p59"/>
          <p:cNvSpPr txBox="1"/>
          <p:nvPr/>
        </p:nvSpPr>
        <p:spPr>
          <a:xfrm>
            <a:off x="6242400" y="2591675"/>
            <a:ext cx="2438930" cy="136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ads: 3,960 - 11%</a:t>
            </a:r>
          </a:p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Display ads: 141 – 3%</a:t>
            </a:r>
          </a:p>
          <a:p>
            <a:pPr lvl="0" algn="ctr"/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YouTube ads: 640– 8%</a:t>
            </a:r>
          </a:p>
        </p:txBody>
      </p:sp>
      <p:sp>
        <p:nvSpPr>
          <p:cNvPr id="468" name="Google Shape;468;p59"/>
          <p:cNvSpPr txBox="1"/>
          <p:nvPr/>
        </p:nvSpPr>
        <p:spPr>
          <a:xfrm flipV="1">
            <a:off x="720000" y="2440800"/>
            <a:ext cx="2404800" cy="983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" name="Google Shape;315;p45">
            <a:extLst>
              <a:ext uri="{FF2B5EF4-FFF2-40B4-BE49-F238E27FC236}">
                <a16:creationId xmlns:a16="http://schemas.microsoft.com/office/drawing/2014/main" id="{20545373-1045-6DA2-3446-14D66E893B77}"/>
              </a:ext>
            </a:extLst>
          </p:cNvPr>
          <p:cNvSpPr txBox="1">
            <a:spLocks/>
          </p:cNvSpPr>
          <p:nvPr/>
        </p:nvSpPr>
        <p:spPr>
          <a:xfrm>
            <a:off x="540000" y="1092587"/>
            <a:ext cx="8128800" cy="46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 sz="14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pPr marL="0" indent="0"/>
            <a:r>
              <a:rPr lang="en-US" sz="1800" b="1" dirty="0"/>
              <a:t>The overall monitoring for search as, display ad, YouTube ads</a:t>
            </a:r>
          </a:p>
        </p:txBody>
      </p:sp>
      <p:sp>
        <p:nvSpPr>
          <p:cNvPr id="3" name="Google Shape;461;p59">
            <a:extLst>
              <a:ext uri="{FF2B5EF4-FFF2-40B4-BE49-F238E27FC236}">
                <a16:creationId xmlns:a16="http://schemas.microsoft.com/office/drawing/2014/main" id="{954729CB-C7AB-4548-F93C-7C66ABC65665}"/>
              </a:ext>
            </a:extLst>
          </p:cNvPr>
          <p:cNvSpPr txBox="1"/>
          <p:nvPr/>
        </p:nvSpPr>
        <p:spPr>
          <a:xfrm>
            <a:off x="3494400" y="1937400"/>
            <a:ext cx="24048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Clicks</a:t>
            </a: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4" name="Google Shape;468;p59">
            <a:extLst>
              <a:ext uri="{FF2B5EF4-FFF2-40B4-BE49-F238E27FC236}">
                <a16:creationId xmlns:a16="http://schemas.microsoft.com/office/drawing/2014/main" id="{3954936D-966B-46B0-A907-395DC9617580}"/>
              </a:ext>
            </a:extLst>
          </p:cNvPr>
          <p:cNvSpPr txBox="1"/>
          <p:nvPr/>
        </p:nvSpPr>
        <p:spPr>
          <a:xfrm flipV="1">
            <a:off x="3474076" y="2435550"/>
            <a:ext cx="2404800" cy="983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5" name="Google Shape;468;p59">
            <a:extLst>
              <a:ext uri="{FF2B5EF4-FFF2-40B4-BE49-F238E27FC236}">
                <a16:creationId xmlns:a16="http://schemas.microsoft.com/office/drawing/2014/main" id="{0BB7EB3A-D9B6-D99A-869D-E84544A20DDC}"/>
              </a:ext>
            </a:extLst>
          </p:cNvPr>
          <p:cNvSpPr txBox="1"/>
          <p:nvPr/>
        </p:nvSpPr>
        <p:spPr>
          <a:xfrm flipV="1">
            <a:off x="6242400" y="2435549"/>
            <a:ext cx="2404800" cy="983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6" name="Google Shape;461;p59">
            <a:extLst>
              <a:ext uri="{FF2B5EF4-FFF2-40B4-BE49-F238E27FC236}">
                <a16:creationId xmlns:a16="http://schemas.microsoft.com/office/drawing/2014/main" id="{B6ECB962-6700-0F6D-231A-3491B5F54D3C}"/>
              </a:ext>
            </a:extLst>
          </p:cNvPr>
          <p:cNvSpPr txBox="1"/>
          <p:nvPr/>
        </p:nvSpPr>
        <p:spPr>
          <a:xfrm>
            <a:off x="6097808" y="1937398"/>
            <a:ext cx="2880592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Click through rate </a:t>
            </a:r>
            <a:endParaRPr sz="1700" b="1" dirty="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</a:t>
            </a:r>
            <a:r>
              <a:rPr lang="en" dirty="0"/>
              <a:t>earnings</a:t>
            </a:r>
            <a:endParaRPr dirty="0"/>
          </a:p>
        </p:txBody>
      </p:sp>
      <p:sp>
        <p:nvSpPr>
          <p:cNvPr id="252" name="Google Shape;252;p41"/>
          <p:cNvSpPr txBox="1">
            <a:spLocks noGrp="1"/>
          </p:cNvSpPr>
          <p:nvPr>
            <p:ph type="subTitle" idx="1"/>
          </p:nvPr>
        </p:nvSpPr>
        <p:spPr>
          <a:xfrm>
            <a:off x="347156" y="2434879"/>
            <a:ext cx="2788946" cy="2324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ads got the highest number of clicks and we should use more of this ads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2"/>
                </a:solidFill>
              </a:rPr>
              <a:t>Actions: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Use Dynamic display ads automatically customize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Use all available ad assets (sitelinks, callouts, prices)</a:t>
            </a:r>
            <a:endParaRPr dirty="0"/>
          </a:p>
        </p:txBody>
      </p:sp>
      <p:sp>
        <p:nvSpPr>
          <p:cNvPr id="253" name="Google Shape;253;p41"/>
          <p:cNvSpPr txBox="1">
            <a:spLocks noGrp="1"/>
          </p:cNvSpPr>
          <p:nvPr>
            <p:ph type="subTitle" idx="2"/>
          </p:nvPr>
        </p:nvSpPr>
        <p:spPr>
          <a:xfrm>
            <a:off x="3187692" y="2438372"/>
            <a:ext cx="2785309" cy="2168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G</a:t>
            </a:r>
            <a:r>
              <a:rPr lang="en" dirty="0"/>
              <a:t>ood amount of impressions but had lower click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/>
            <a:r>
              <a:rPr lang="en-US" b="1" dirty="0">
                <a:solidFill>
                  <a:schemeClr val="bg2"/>
                </a:solidFill>
              </a:rPr>
              <a:t>Actions: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more keyword search and find new search terms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A/B testing with copy &amp; graphics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41"/>
          <p:cNvSpPr txBox="1">
            <a:spLocks noGrp="1"/>
          </p:cNvSpPr>
          <p:nvPr>
            <p:ph type="subTitle" idx="5"/>
          </p:nvPr>
        </p:nvSpPr>
        <p:spPr>
          <a:xfrm>
            <a:off x="5973001" y="2434879"/>
            <a:ext cx="2775342" cy="2171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V</a:t>
            </a:r>
            <a:r>
              <a:rPr lang="en" dirty="0"/>
              <a:t>iewers does find videos more intresting and want to know more 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b="1" dirty="0">
                <a:solidFill>
                  <a:schemeClr val="bg2"/>
                </a:solidFill>
              </a:rPr>
              <a:t>Actions: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the competitor ads and follow google trends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Limiting number of time ads repeats by frequency capping</a:t>
            </a:r>
            <a:endParaRPr dirty="0"/>
          </a:p>
        </p:txBody>
      </p:sp>
      <p:sp>
        <p:nvSpPr>
          <p:cNvPr id="256" name="Google Shape;256;p41"/>
          <p:cNvSpPr txBox="1">
            <a:spLocks noGrp="1"/>
          </p:cNvSpPr>
          <p:nvPr>
            <p:ph type="title" idx="6"/>
          </p:nvPr>
        </p:nvSpPr>
        <p:spPr>
          <a:xfrm>
            <a:off x="1392728" y="1583450"/>
            <a:ext cx="781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8" name="Google Shape;258;p41"/>
          <p:cNvSpPr txBox="1">
            <a:spLocks noGrp="1"/>
          </p:cNvSpPr>
          <p:nvPr>
            <p:ph type="title" idx="8"/>
          </p:nvPr>
        </p:nvSpPr>
        <p:spPr>
          <a:xfrm>
            <a:off x="4181400" y="1583450"/>
            <a:ext cx="781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60" name="Google Shape;260;p41"/>
          <p:cNvSpPr txBox="1">
            <a:spLocks noGrp="1"/>
          </p:cNvSpPr>
          <p:nvPr>
            <p:ph type="title" idx="13"/>
          </p:nvPr>
        </p:nvSpPr>
        <p:spPr>
          <a:xfrm>
            <a:off x="6976873" y="1585996"/>
            <a:ext cx="781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1" name="Google Shape;261;p41"/>
          <p:cNvSpPr txBox="1">
            <a:spLocks noGrp="1"/>
          </p:cNvSpPr>
          <p:nvPr>
            <p:ph type="subTitle" idx="14"/>
          </p:nvPr>
        </p:nvSpPr>
        <p:spPr>
          <a:xfrm>
            <a:off x="557828" y="2138805"/>
            <a:ext cx="2451000" cy="3719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Search ads </a:t>
            </a:r>
          </a:p>
        </p:txBody>
      </p:sp>
      <p:sp>
        <p:nvSpPr>
          <p:cNvPr id="262" name="Google Shape;262;p41"/>
          <p:cNvSpPr txBox="1">
            <a:spLocks noGrp="1"/>
          </p:cNvSpPr>
          <p:nvPr>
            <p:ph type="subTitle" idx="15"/>
          </p:nvPr>
        </p:nvSpPr>
        <p:spPr>
          <a:xfrm>
            <a:off x="3346500" y="2138805"/>
            <a:ext cx="2451000" cy="3719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</a:t>
            </a:r>
            <a:r>
              <a:rPr lang="en" dirty="0"/>
              <a:t>isplay ads</a:t>
            </a:r>
            <a:endParaRPr dirty="0"/>
          </a:p>
        </p:txBody>
      </p:sp>
      <p:sp>
        <p:nvSpPr>
          <p:cNvPr id="263" name="Google Shape;263;p41"/>
          <p:cNvSpPr txBox="1">
            <a:spLocks noGrp="1"/>
          </p:cNvSpPr>
          <p:nvPr>
            <p:ph type="subTitle" idx="16"/>
          </p:nvPr>
        </p:nvSpPr>
        <p:spPr>
          <a:xfrm>
            <a:off x="6135172" y="2159206"/>
            <a:ext cx="2451000" cy="3311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Y</a:t>
            </a:r>
            <a:r>
              <a:rPr lang="en" dirty="0"/>
              <a:t>ouTube ads 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1DF16A1B-E7F6-B57E-397A-47F4AD36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8BD856DD-E6C5-5157-3081-8D203DA02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Suggestion</a:t>
            </a:r>
            <a:endParaRPr dirty="0"/>
          </a:p>
        </p:txBody>
      </p:sp>
      <p:sp>
        <p:nvSpPr>
          <p:cNvPr id="251" name="Google Shape;251;p41">
            <a:extLst>
              <a:ext uri="{FF2B5EF4-FFF2-40B4-BE49-F238E27FC236}">
                <a16:creationId xmlns:a16="http://schemas.microsoft.com/office/drawing/2014/main" id="{D82FE029-C4C8-27A5-981C-0772ED1CDBE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32887" y="2829897"/>
            <a:ext cx="2785309" cy="795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can use google merchant to do the shopping ads shown in (SERP)</a:t>
            </a:r>
          </a:p>
        </p:txBody>
      </p:sp>
      <p:sp>
        <p:nvSpPr>
          <p:cNvPr id="254" name="Google Shape;254;p41">
            <a:extLst>
              <a:ext uri="{FF2B5EF4-FFF2-40B4-BE49-F238E27FC236}">
                <a16:creationId xmlns:a16="http://schemas.microsoft.com/office/drawing/2014/main" id="{A6644A31-34E8-0DE7-A5C1-458B4F86706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36173" y="2802938"/>
            <a:ext cx="2860154" cy="1058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more attractive visuals and better copy for targeting and to increase engagement</a:t>
            </a:r>
            <a:endParaRPr dirty="0"/>
          </a:p>
        </p:txBody>
      </p:sp>
      <p:sp>
        <p:nvSpPr>
          <p:cNvPr id="257" name="Google Shape;257;p41">
            <a:extLst>
              <a:ext uri="{FF2B5EF4-FFF2-40B4-BE49-F238E27FC236}">
                <a16:creationId xmlns:a16="http://schemas.microsoft.com/office/drawing/2014/main" id="{4646DBCB-CC41-EAEB-CB7A-7ADE0962C13A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334942" y="1861694"/>
            <a:ext cx="781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59" name="Google Shape;259;p41">
            <a:extLst>
              <a:ext uri="{FF2B5EF4-FFF2-40B4-BE49-F238E27FC236}">
                <a16:creationId xmlns:a16="http://schemas.microsoft.com/office/drawing/2014/main" id="{30205DAB-8E60-D418-1201-DEA9C1EAD198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6322755" y="1861694"/>
            <a:ext cx="781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64" name="Google Shape;264;p41">
            <a:extLst>
              <a:ext uri="{FF2B5EF4-FFF2-40B4-BE49-F238E27FC236}">
                <a16:creationId xmlns:a16="http://schemas.microsoft.com/office/drawing/2014/main" id="{2F18AAE8-908C-7DB8-A5C7-E1A23482E90D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1500042" y="2512556"/>
            <a:ext cx="2451000" cy="3733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Shopping ads</a:t>
            </a:r>
            <a:endParaRPr dirty="0"/>
          </a:p>
        </p:txBody>
      </p:sp>
      <p:sp>
        <p:nvSpPr>
          <p:cNvPr id="265" name="Google Shape;265;p41">
            <a:extLst>
              <a:ext uri="{FF2B5EF4-FFF2-40B4-BE49-F238E27FC236}">
                <a16:creationId xmlns:a16="http://schemas.microsoft.com/office/drawing/2014/main" id="{98FBC843-5C05-CB57-9D5B-5FBF52A43170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5487855" y="2512557"/>
            <a:ext cx="2451000" cy="3733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Improvements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3785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3F5A8700-22E7-BDE4-3988-0D785329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5">
            <a:extLst>
              <a:ext uri="{FF2B5EF4-FFF2-40B4-BE49-F238E27FC236}">
                <a16:creationId xmlns:a16="http://schemas.microsoft.com/office/drawing/2014/main" id="{CE8668D2-BB89-E159-9C8A-688465942A2B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t="7843" b="7843"/>
          <a:stretch/>
        </p:blipFill>
        <p:spPr>
          <a:xfrm>
            <a:off x="-6650" y="-6650"/>
            <a:ext cx="9150602" cy="5143501"/>
          </a:xfrm>
          <a:prstGeom prst="rect">
            <a:avLst/>
          </a:prstGeom>
        </p:spPr>
      </p:pic>
      <p:sp>
        <p:nvSpPr>
          <p:cNvPr id="425" name="Google Shape;425;p55">
            <a:extLst>
              <a:ext uri="{FF2B5EF4-FFF2-40B4-BE49-F238E27FC236}">
                <a16:creationId xmlns:a16="http://schemas.microsoft.com/office/drawing/2014/main" id="{54BBB555-9A88-65E2-5D5C-F77479679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062" y="1821873"/>
            <a:ext cx="7704000" cy="12053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                   T</a:t>
            </a:r>
            <a:r>
              <a:rPr lang="en" sz="4000" dirty="0"/>
              <a:t>hanks            </a:t>
            </a:r>
            <a:r>
              <a:rPr lang="en" sz="1200" dirty="0"/>
              <a:t>by </a:t>
            </a:r>
            <a:r>
              <a:rPr lang="en" sz="1800" dirty="0"/>
              <a:t>Nilesh</a:t>
            </a:r>
            <a:r>
              <a:rPr lang="en" sz="1200" dirty="0"/>
              <a:t> </a:t>
            </a:r>
            <a:endParaRPr sz="1200" dirty="0"/>
          </a:p>
        </p:txBody>
      </p:sp>
      <p:pic>
        <p:nvPicPr>
          <p:cNvPr id="426" name="Google Shape;426;p55">
            <a:extLst>
              <a:ext uri="{FF2B5EF4-FFF2-40B4-BE49-F238E27FC236}">
                <a16:creationId xmlns:a16="http://schemas.microsoft.com/office/drawing/2014/main" id="{D3CF710E-EB02-1AB9-2659-21C166BE35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5040" t="40777" r="10085" b="17328"/>
          <a:stretch/>
        </p:blipFill>
        <p:spPr>
          <a:xfrm flipH="1">
            <a:off x="7696125" y="-21000"/>
            <a:ext cx="1447875" cy="1764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653534"/>
      </p:ext>
    </p:extLst>
  </p:cSld>
  <p:clrMapOvr>
    <a:masterClrMapping/>
  </p:clrMapOvr>
</p:sld>
</file>

<file path=ppt/theme/theme1.xml><?xml version="1.0" encoding="utf-8"?>
<a:theme xmlns:a="http://schemas.openxmlformats.org/drawingml/2006/main" name="Elite Athletes Theme by Slidesgo">
  <a:themeElements>
    <a:clrScheme name="Simple Light">
      <a:dk1>
        <a:srgbClr val="FFFFFF"/>
      </a:dk1>
      <a:lt1>
        <a:srgbClr val="000000"/>
      </a:lt1>
      <a:dk2>
        <a:srgbClr val="FB9500"/>
      </a:dk2>
      <a:lt2>
        <a:srgbClr val="C31212"/>
      </a:lt2>
      <a:accent1>
        <a:srgbClr val="CCCCC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1051</Words>
  <Application>Microsoft Office PowerPoint</Application>
  <PresentationFormat>On-screen Show (16:9)</PresentationFormat>
  <Paragraphs>179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Unbounded</vt:lpstr>
      <vt:lpstr>DM Sans</vt:lpstr>
      <vt:lpstr>Bebas Neue</vt:lpstr>
      <vt:lpstr>Unbounded SemiBold</vt:lpstr>
      <vt:lpstr>DM Sans Medium</vt:lpstr>
      <vt:lpstr>Nunito Light</vt:lpstr>
      <vt:lpstr>Calibri</vt:lpstr>
      <vt:lpstr>Unbounded Black</vt:lpstr>
      <vt:lpstr>Fugaz One</vt:lpstr>
      <vt:lpstr>Elite Athletes Theme by Slidesgo</vt:lpstr>
      <vt:lpstr>Promoting Products on the Google Ecosystem </vt:lpstr>
      <vt:lpstr>Introduction </vt:lpstr>
      <vt:lpstr>Tasks </vt:lpstr>
      <vt:lpstr>Task 1 – Pre-Campaign Prep</vt:lpstr>
      <vt:lpstr>Competitor Analysis</vt:lpstr>
      <vt:lpstr>Task 2 – Campaign Planning</vt:lpstr>
      <vt:lpstr>Budget Allocation</vt:lpstr>
      <vt:lpstr>Budget Allocation</vt:lpstr>
      <vt:lpstr>TASK 3 – Campaign Setup </vt:lpstr>
      <vt:lpstr>Ad Creation</vt:lpstr>
      <vt:lpstr>PowerPoint Presentation</vt:lpstr>
      <vt:lpstr>TASK 4 – Campaign Launch &amp; Optimization </vt:lpstr>
      <vt:lpstr>Campaign Optimaztion Result</vt:lpstr>
      <vt:lpstr>Learnings</vt:lpstr>
      <vt:lpstr>Suggestion</vt:lpstr>
      <vt:lpstr>                   Thanks            by Nilesh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niles</dc:creator>
  <cp:lastModifiedBy>nilesh sharma</cp:lastModifiedBy>
  <cp:revision>67</cp:revision>
  <dcterms:modified xsi:type="dcterms:W3CDTF">2026-04-23T16:04:00Z</dcterms:modified>
</cp:coreProperties>
</file>